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2735" y="526580"/>
            <a:ext cx="30259" cy="3025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99581" y="676367"/>
            <a:ext cx="41105" cy="4110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69103" y="3261487"/>
            <a:ext cx="40653" cy="406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5295" y="4656673"/>
            <a:ext cx="41677" cy="41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12073" y="4748348"/>
            <a:ext cx="39191" cy="391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424" y="202319"/>
            <a:ext cx="28796" cy="2879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3229" y="1971532"/>
            <a:ext cx="30565" cy="305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5525" y="2312212"/>
            <a:ext cx="12726" cy="127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80434" y="3023089"/>
            <a:ext cx="38575" cy="385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61" y="1463998"/>
            <a:ext cx="21359" cy="2135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8235" y="4393715"/>
            <a:ext cx="30443" cy="304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73070" y="599895"/>
            <a:ext cx="42849" cy="428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4375" y="1605676"/>
            <a:ext cx="13482" cy="134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4809" y="3537130"/>
            <a:ext cx="27091" cy="270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3552" y="4125390"/>
            <a:ext cx="34644" cy="346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900" y="715031"/>
            <a:ext cx="28888" cy="288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5731" y="2215982"/>
            <a:ext cx="10810" cy="10810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57665" y="924199"/>
            <a:ext cx="23284" cy="2328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9826" y="1067043"/>
            <a:ext cx="20703" cy="207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823" y="3291010"/>
            <a:ext cx="22556" cy="225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764" y="2820986"/>
            <a:ext cx="31220" cy="312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8987" y="1253870"/>
            <a:ext cx="42824" cy="42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9136" y="216655"/>
            <a:ext cx="18479" cy="1847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72616" y="3585490"/>
            <a:ext cx="38993" cy="389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6750" y="1766620"/>
            <a:ext cx="25951" cy="2595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500" y="2933999"/>
            <a:ext cx="20235" cy="202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4591" y="3652131"/>
            <a:ext cx="27654" cy="276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3272" y="3738526"/>
            <a:ext cx="28783" cy="2878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6347" y="3966854"/>
            <a:ext cx="11140" cy="111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87494" y="210282"/>
            <a:ext cx="43543" cy="435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06721" y="242677"/>
            <a:ext cx="24049" cy="240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8597" y="1357496"/>
            <a:ext cx="19475" cy="1947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2667" y="3047273"/>
            <a:ext cx="22362" cy="223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5388" y="4447284"/>
            <a:ext cx="29448" cy="29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8087" y="818041"/>
            <a:ext cx="17681" cy="176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66464" y="3271848"/>
            <a:ext cx="39403" cy="394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5430" y="3698802"/>
            <a:ext cx="28280" cy="2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40691" y="4055376"/>
            <a:ext cx="44277" cy="4427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42675" y="2996242"/>
            <a:ext cx="28033" cy="280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1587" y="4180265"/>
            <a:ext cx="17467" cy="174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14615" y="677351"/>
            <a:ext cx="27421" cy="274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7053" y="4122854"/>
            <a:ext cx="44540" cy="445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97649" y="3971359"/>
            <a:ext cx="40945" cy="4094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0448" y="3447615"/>
            <a:ext cx="43178" cy="4317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19154" y="3828787"/>
            <a:ext cx="25435" cy="254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69006" y="3032479"/>
            <a:ext cx="17945" cy="179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02648" y="3474533"/>
            <a:ext cx="17440" cy="17440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75866" y="2064492"/>
            <a:ext cx="25014" cy="2501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05179" y="2306455"/>
            <a:ext cx="30822" cy="308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68212" y="4835497"/>
            <a:ext cx="37057" cy="3705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44463" y="1714284"/>
            <a:ext cx="42839" cy="428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4324" y="3964479"/>
            <a:ext cx="25119" cy="251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4377" y="543163"/>
            <a:ext cx="36057" cy="3605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32102" y="392562"/>
            <a:ext cx="39179" cy="39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80305" y="2009332"/>
            <a:ext cx="45047" cy="4504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96485" y="3623109"/>
            <a:ext cx="16319" cy="163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94191" y="1249167"/>
            <a:ext cx="23195" cy="23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23421" y="4678753"/>
            <a:ext cx="43909" cy="4390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89658" y="1111026"/>
            <a:ext cx="37255" cy="372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41280" y="4392529"/>
            <a:ext cx="32703" cy="327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78693" y="718883"/>
            <a:ext cx="14421" cy="144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63830" y="290549"/>
            <a:ext cx="10487" cy="104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18771" y="2276732"/>
            <a:ext cx="39505" cy="3950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29164" y="3043325"/>
            <a:ext cx="14935" cy="149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477570" y="4995510"/>
            <a:ext cx="24332" cy="2433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26661" y="4165593"/>
            <a:ext cx="19427" cy="1942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05540" y="2790603"/>
            <a:ext cx="20393" cy="203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16064" y="3582292"/>
            <a:ext cx="38301" cy="383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58573" y="957309"/>
            <a:ext cx="38759" cy="3875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699769" y="3461140"/>
            <a:ext cx="19873" cy="198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1581" y="3740418"/>
            <a:ext cx="16381" cy="163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86786" y="3587057"/>
            <a:ext cx="13555" cy="135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61172" y="1743001"/>
            <a:ext cx="23162" cy="23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76255" y="1140421"/>
            <a:ext cx="43029" cy="430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30407" y="3975101"/>
            <a:ext cx="20013" cy="20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6222" y="4437681"/>
            <a:ext cx="28290" cy="282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93413" y="732423"/>
            <a:ext cx="24554" cy="2455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84795" y="5010544"/>
            <a:ext cx="21534" cy="215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25407" y="725142"/>
            <a:ext cx="41547" cy="4154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71280" y="1289136"/>
            <a:ext cx="11145" cy="111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00400" y="-1371600"/>
            <a:ext cx="7315200" cy="7315200"/>
          </a:xfrm>
          <a:prstGeom prst="ellipse">
            <a:avLst/>
          </a:prstGeom>
          <a:solidFill>
            <a:srgbClr val="0D2060">
              <a:alpha val="6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4114800" y="-731520"/>
            <a:ext cx="5486400" cy="5486400"/>
          </a:xfrm>
          <a:prstGeom prst="ellipse">
            <a:avLst/>
          </a:prstGeom>
          <a:solidFill>
            <a:srgbClr val="0A3080">
              <a:alpha val="4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5" name="Shape 83"/>
          <p:cNvSpPr/>
          <p:nvPr/>
        </p:nvSpPr>
        <p:spPr>
          <a:xfrm>
            <a:off x="1828800" y="1280160"/>
            <a:ext cx="4572000" cy="4572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86" name="Text 8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KHOA HỌC VŨ TRỤ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54864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TÊN LỬA</a:t>
            </a:r>
            <a:endParaRPr lang="en-US" sz="5200" dirty="0"/>
          </a:p>
        </p:txBody>
      </p:sp>
      <p:sp>
        <p:nvSpPr>
          <p:cNvPr id="88" name="Text 86"/>
          <p:cNvSpPr/>
          <p:nvPr/>
        </p:nvSpPr>
        <p:spPr>
          <a:xfrm>
            <a:off x="548640" y="2423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TƯƠNG LAI DU HÀNH VŨ TRỤ</a:t>
            </a:r>
            <a:endParaRPr lang="en-US" sz="2600" dirty="0"/>
          </a:p>
        </p:txBody>
      </p:sp>
      <p:sp>
        <p:nvSpPr>
          <p:cNvPr id="89" name="Shape 87"/>
          <p:cNvSpPr/>
          <p:nvPr/>
        </p:nvSpPr>
        <p:spPr>
          <a:xfrm>
            <a:off x="548640" y="3246120"/>
            <a:ext cx="8046720" cy="18288"/>
          </a:xfrm>
          <a:prstGeom prst="rect">
            <a:avLst/>
          </a:prstGeom>
          <a:solidFill>
            <a:srgbClr val="1E90FF">
              <a:alpha val="5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54864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nguyên lý cơ bản đến chinh phục Mặt Trăng và xa hơn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548640" y="4069080"/>
            <a:ext cx="1920240" cy="365760"/>
          </a:xfrm>
          <a:prstGeom prst="roundRect">
            <a:avLst/>
          </a:prstGeom>
          <a:solidFill>
            <a:srgbClr val="112255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4864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Động lực học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633472" y="4069080"/>
            <a:ext cx="1920240" cy="365760"/>
          </a:xfrm>
          <a:prstGeom prst="roundRect">
            <a:avLst/>
          </a:prstGeom>
          <a:solidFill>
            <a:srgbClr val="112255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33472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Thoát khỏi Trái Đất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718304" y="4069080"/>
            <a:ext cx="1920240" cy="365760"/>
          </a:xfrm>
          <a:prstGeom prst="roundRect">
            <a:avLst/>
          </a:prstGeom>
          <a:solidFill>
            <a:srgbClr val="112255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18304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🌕 Mặt Trăng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803136" y="4069080"/>
            <a:ext cx="1920240" cy="365760"/>
          </a:xfrm>
          <a:prstGeom prst="roundRect">
            <a:avLst/>
          </a:prstGeom>
          <a:solidFill>
            <a:srgbClr val="112255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03136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🛸 Tương lai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7315200" y="2743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🚀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1184" y="4602051"/>
            <a:ext cx="31546" cy="315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0219" y="1873898"/>
            <a:ext cx="11086" cy="1108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52042" y="2322605"/>
            <a:ext cx="29182" cy="291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37882" y="2432472"/>
            <a:ext cx="40312" cy="4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04548" y="4210526"/>
            <a:ext cx="22242" cy="222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6760" y="2344656"/>
            <a:ext cx="13094" cy="130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9026" y="3081585"/>
            <a:ext cx="43026" cy="430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4138" y="2621871"/>
            <a:ext cx="35175" cy="3517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97303" y="1964402"/>
            <a:ext cx="45587" cy="455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41648" y="2994779"/>
            <a:ext cx="27168" cy="27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63" y="3506600"/>
            <a:ext cx="36943" cy="369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2529" y="1925038"/>
            <a:ext cx="24018" cy="240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9050" y="3971075"/>
            <a:ext cx="44154" cy="441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6277" y="4780754"/>
            <a:ext cx="35291" cy="352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3211" y="3844164"/>
            <a:ext cx="16848" cy="168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7419" y="1830840"/>
            <a:ext cx="16661" cy="1666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4791" y="3546456"/>
            <a:ext cx="25251" cy="252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056" y="1997183"/>
            <a:ext cx="26185" cy="2618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5536" y="1235033"/>
            <a:ext cx="34219" cy="34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4349" y="2870441"/>
            <a:ext cx="40312" cy="4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8542" y="4590394"/>
            <a:ext cx="16325" cy="1632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7258" y="4793163"/>
            <a:ext cx="10219" cy="102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78600" y="1281052"/>
            <a:ext cx="42955" cy="429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0702" y="1927897"/>
            <a:ext cx="15946" cy="159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1481" y="523836"/>
            <a:ext cx="22545" cy="225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53389" y="2593250"/>
            <a:ext cx="24067" cy="240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115" y="2273838"/>
            <a:ext cx="15728" cy="15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58240" y="668153"/>
            <a:ext cx="42505" cy="425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3686" y="1934401"/>
            <a:ext cx="32532" cy="325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03554" y="1587198"/>
            <a:ext cx="9642" cy="96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71006" y="3860436"/>
            <a:ext cx="28615" cy="2861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5175" y="230354"/>
            <a:ext cx="21041" cy="2104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5028" y="2201295"/>
            <a:ext cx="42804" cy="428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50724" y="4714725"/>
            <a:ext cx="18163" cy="181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61076" y="255724"/>
            <a:ext cx="28953" cy="2895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03958" y="382782"/>
            <a:ext cx="40995" cy="409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59592" y="1520109"/>
            <a:ext cx="23628" cy="2362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8774" y="626406"/>
            <a:ext cx="9550" cy="95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49211" y="3509201"/>
            <a:ext cx="35956" cy="359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253" y="4569636"/>
            <a:ext cx="29449" cy="2944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SEMINAR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28600" y="1097280"/>
            <a:ext cx="420624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1097280"/>
            <a:ext cx="54864" cy="105156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10972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05840" y="1170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5840" y="1417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Lý Cơ Bản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005840" y="17556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luật Newton, lực đẩy, nhiên liệu tên lửa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2331720"/>
            <a:ext cx="420624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233172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2331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1005840" y="2404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05840" y="2651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Tsiolkovsky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05840" y="29900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tên lửa, delta-v, tỷ lệ khối lượng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8600" y="3566160"/>
            <a:ext cx="420624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" y="3566160"/>
            <a:ext cx="54864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566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1005840" y="3639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05840" y="3886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Loại Động Cơ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1005840" y="4224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học, ion, hạt nhân, và động cơ tương lai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09160" y="1097280"/>
            <a:ext cx="420624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9160" y="1097280"/>
            <a:ext cx="54864" cy="1051560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65" name="Text 63"/>
          <p:cNvSpPr/>
          <p:nvPr/>
        </p:nvSpPr>
        <p:spPr>
          <a:xfrm>
            <a:off x="4846320" y="10972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5486400" y="1170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486400" y="1417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Thoát Khỏi Trái Đất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5486400" y="17556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tốc vũ trụ, quỹ đạo, Hohmann transfer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09160" y="2331720"/>
            <a:ext cx="420624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09160" y="2331720"/>
            <a:ext cx="54864" cy="10515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1" name="Text 69"/>
          <p:cNvSpPr/>
          <p:nvPr/>
        </p:nvSpPr>
        <p:spPr>
          <a:xfrm>
            <a:off x="4846320" y="23317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🌕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5486400" y="2404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486400" y="2651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Mặt Trăng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5486400" y="29900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Apollo, LOR, hạ cánh và cất cánh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709160" y="3566160"/>
            <a:ext cx="4206240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09160" y="3566160"/>
            <a:ext cx="54864" cy="1051560"/>
          </a:xfrm>
          <a:prstGeom prst="rect">
            <a:avLst/>
          </a:prstGeom>
          <a:solidFill>
            <a:srgbClr val="CC44FF"/>
          </a:solidFill>
          <a:ln/>
        </p:spPr>
      </p:sp>
      <p:sp>
        <p:nvSpPr>
          <p:cNvPr id="77" name="Text 75"/>
          <p:cNvSpPr/>
          <p:nvPr/>
        </p:nvSpPr>
        <p:spPr>
          <a:xfrm>
            <a:off x="4846320" y="356616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🛸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5486400" y="3639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5486400" y="3886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Hiện Đại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5486400" y="4224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Starship, tái sử dụng, Artemis, tương lai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52021" y="2351531"/>
            <a:ext cx="35506" cy="355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9479" y="2807327"/>
            <a:ext cx="13572" cy="135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96495" y="1369061"/>
            <a:ext cx="44805" cy="448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71632" y="944822"/>
            <a:ext cx="27761" cy="2776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9008" y="2750857"/>
            <a:ext cx="9472" cy="9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3951" y="874821"/>
            <a:ext cx="45060" cy="450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8987" y="3157965"/>
            <a:ext cx="36394" cy="363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9725" y="3783635"/>
            <a:ext cx="32938" cy="329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5293" y="846172"/>
            <a:ext cx="18510" cy="185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2953" y="1755971"/>
            <a:ext cx="29493" cy="2949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47109" y="4146189"/>
            <a:ext cx="9568" cy="95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6911" y="792886"/>
            <a:ext cx="26520" cy="26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4331" y="1470209"/>
            <a:ext cx="40359" cy="4035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6767" y="4610661"/>
            <a:ext cx="19434" cy="194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28148" y="3462794"/>
            <a:ext cx="37721" cy="377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4750" y="4327665"/>
            <a:ext cx="11785" cy="117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1823" y="2411117"/>
            <a:ext cx="20467" cy="204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2849" y="1169735"/>
            <a:ext cx="37973" cy="379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7772" y="4684517"/>
            <a:ext cx="14630" cy="14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0946" y="4660768"/>
            <a:ext cx="23025" cy="230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9010" y="3652416"/>
            <a:ext cx="32354" cy="323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6045" y="4743223"/>
            <a:ext cx="44345" cy="443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8669" y="4363430"/>
            <a:ext cx="16643" cy="166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0031" y="1206227"/>
            <a:ext cx="19247" cy="1924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98200" y="1134847"/>
            <a:ext cx="42806" cy="428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89159" y="1090568"/>
            <a:ext cx="23783" cy="2378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40899" y="1338493"/>
            <a:ext cx="17938" cy="179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6082" y="273032"/>
            <a:ext cx="16528" cy="1652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2124" y="423899"/>
            <a:ext cx="26640" cy="2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9542" y="4592864"/>
            <a:ext cx="39752" cy="3975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06708" y="555527"/>
            <a:ext cx="24533" cy="2453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6009" y="1047588"/>
            <a:ext cx="38179" cy="38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0313" y="3704637"/>
            <a:ext cx="19132" cy="191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3628" y="3885127"/>
            <a:ext cx="39345" cy="393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9265" y="464130"/>
            <a:ext cx="25320" cy="25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NGUYÊN LÝ CƠ BẢN — ĐỊNH LUẬT NEWTON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0A1A40"/>
          </a:solidFill>
          <a:ln w="25400">
            <a:solidFill>
              <a:srgbClr val="1E9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ma   |   F = Δ(mv)/Δt   |   Lực Đẩy = V_khí × ṁ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274320" y="2011680"/>
            <a:ext cx="2743200" cy="2880360"/>
          </a:xfrm>
          <a:prstGeom prst="rect">
            <a:avLst/>
          </a:prstGeom>
          <a:solidFill>
            <a:srgbClr val="0F2044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solidFill>
            <a:srgbClr val="1E90FF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Định Luật 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Tính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84048" y="2971800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đứng yên sẽ đứng yên mãi. Để tên lửa bay, cần lực đẩy liên tục vượt qua quán tính và trọng lực.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172968" y="2011680"/>
            <a:ext cx="2743200" cy="2880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72968" y="2011680"/>
            <a:ext cx="2743200" cy="457200"/>
          </a:xfrm>
          <a:prstGeom prst="rect">
            <a:avLst/>
          </a:prstGeom>
          <a:solidFill>
            <a:srgbClr val="00D4FF">
              <a:alpha val="7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172968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Định Luật 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264408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282696" y="2971800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tốc tỉ lệ thuận với lực và tỉ lệ nghịch với khối lượng. Tên lửa nhẹ hơn = gia tốc mạnh hơn với cùng lực đẩy.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71616" y="2011680"/>
            <a:ext cx="2743200" cy="2880360"/>
          </a:xfrm>
          <a:prstGeom prst="rect">
            <a:avLst/>
          </a:prstGeom>
          <a:solidFill>
            <a:srgbClr val="0F20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71616" y="2011680"/>
            <a:ext cx="2743200" cy="457200"/>
          </a:xfrm>
          <a:prstGeom prst="rect">
            <a:avLst/>
          </a:prstGeom>
          <a:solidFill>
            <a:srgbClr val="FF6B35">
              <a:alpha val="7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071616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Định Luật 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163056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Lực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181344" y="2971800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nền tảng của tên lửa! Khí đốt phụt ra phía sau → tên lửa đẩy về phía trước. Không cần không khí!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9804" y="996758"/>
            <a:ext cx="16401" cy="164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35595" y="4432955"/>
            <a:ext cx="16123" cy="161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18" y="723053"/>
            <a:ext cx="41085" cy="410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71258" y="3206583"/>
            <a:ext cx="33075" cy="330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9755" y="3809914"/>
            <a:ext cx="26619" cy="266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13633" y="571137"/>
            <a:ext cx="34117" cy="341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2954" y="106392"/>
            <a:ext cx="31002" cy="310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7633" y="3881459"/>
            <a:ext cx="21823" cy="218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62536" y="154811"/>
            <a:ext cx="29241" cy="2924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4454" y="4830977"/>
            <a:ext cx="40731" cy="4073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5414" y="2341375"/>
            <a:ext cx="10393" cy="103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3044" y="3635788"/>
            <a:ext cx="19617" cy="196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6686" y="1176935"/>
            <a:ext cx="43877" cy="438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741" y="4091169"/>
            <a:ext cx="35499" cy="354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9346" y="871926"/>
            <a:ext cx="11162" cy="111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90155" y="435879"/>
            <a:ext cx="42467" cy="424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8639" y="4508742"/>
            <a:ext cx="21613" cy="216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2033" y="1976609"/>
            <a:ext cx="44137" cy="441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506" y="5009011"/>
            <a:ext cx="23434" cy="234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6696" y="2316677"/>
            <a:ext cx="20287" cy="202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318" y="725790"/>
            <a:ext cx="26793" cy="267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8677" y="4451617"/>
            <a:ext cx="15775" cy="157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1106" y="3810308"/>
            <a:ext cx="19767" cy="197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7213" y="3155102"/>
            <a:ext cx="21931" cy="2193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7392" y="2038668"/>
            <a:ext cx="10473" cy="104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7965" y="4305945"/>
            <a:ext cx="44331" cy="4433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10532" y="2533743"/>
            <a:ext cx="29013" cy="290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56622" y="1841134"/>
            <a:ext cx="19563" cy="195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16810" y="4677825"/>
            <a:ext cx="25288" cy="252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05476" y="2982195"/>
            <a:ext cx="15032" cy="15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9754" y="3905589"/>
            <a:ext cx="31857" cy="3185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80990" y="2144605"/>
            <a:ext cx="37583" cy="375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10119" y="989971"/>
            <a:ext cx="15924" cy="1592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7346" y="585095"/>
            <a:ext cx="41347" cy="4134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737" y="4425658"/>
            <a:ext cx="21627" cy="2162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PHƯƠNG TRÌNH TSIOLKOVSKY — "KINH THÁNH" CỦA TÊN LỬA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71600" y="1005840"/>
            <a:ext cx="6400800" cy="1097280"/>
          </a:xfrm>
          <a:prstGeom prst="rect">
            <a:avLst/>
          </a:prstGeom>
          <a:solidFill>
            <a:srgbClr val="050F3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Isp × g₀ × ln(m₀ / mf)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274320" y="2331720"/>
            <a:ext cx="42062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88720" y="2423160"/>
            <a:ext cx="18288" cy="3200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5" name="Text 43"/>
          <p:cNvSpPr/>
          <p:nvPr/>
        </p:nvSpPr>
        <p:spPr>
          <a:xfrm>
            <a:off x="128016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Delta-v: Khả năng thay đổi vận tốc (m/s)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2926080"/>
            <a:ext cx="42062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88720" y="3017520"/>
            <a:ext cx="18288" cy="3200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49" name="Text 47"/>
          <p:cNvSpPr/>
          <p:nvPr/>
        </p:nvSpPr>
        <p:spPr>
          <a:xfrm>
            <a:off x="128016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Xung lực riêng: Hiệu suất nhiên liệu (giây)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09160" y="2331720"/>
            <a:ext cx="42062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g₀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23560" y="2423160"/>
            <a:ext cx="18288" cy="3200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53" name="Text 51"/>
          <p:cNvSpPr/>
          <p:nvPr/>
        </p:nvSpPr>
        <p:spPr>
          <a:xfrm>
            <a:off x="57150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tốc trọng trường Trái Đất: 9.81 m/s²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09160" y="2926080"/>
            <a:ext cx="42062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m₀/mf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623560" y="3017520"/>
            <a:ext cx="18288" cy="3200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57" name="Text 55"/>
          <p:cNvSpPr/>
          <p:nvPr/>
        </p:nvSpPr>
        <p:spPr>
          <a:xfrm>
            <a:off x="571500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khối lượng: Tổng / Khối lượng cuối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0718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3657600"/>
            <a:ext cx="54864" cy="12618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3721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Ý Nghĩa Quan Trọng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02920" y="40690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lên quỹ đạo cần Δv ≈ 9,400 m/s.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lớn khối lượng tên lửa là nhiên liệu! </a:t>
            </a:r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9: 94% là nhiên liệu, 6% là tên lửa + hàng hóa. Đây là lý do tên lửa phải rất 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21479" y="1433480"/>
            <a:ext cx="24320" cy="2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6316" y="2895831"/>
            <a:ext cx="41078" cy="410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5667" y="4289769"/>
            <a:ext cx="19937" cy="199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79389" y="1263158"/>
            <a:ext cx="42371" cy="4237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89822" y="4468972"/>
            <a:ext cx="40058" cy="4005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8715" y="2584491"/>
            <a:ext cx="35992" cy="359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345" y="466792"/>
            <a:ext cx="41203" cy="412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5948" y="2279352"/>
            <a:ext cx="11399" cy="113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6569" y="4615404"/>
            <a:ext cx="13674" cy="136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55632" y="1292483"/>
            <a:ext cx="16433" cy="164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2368" y="3922972"/>
            <a:ext cx="27932" cy="279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8349" y="5015765"/>
            <a:ext cx="18854" cy="188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5188" y="4405125"/>
            <a:ext cx="43759" cy="4375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0967" y="2623403"/>
            <a:ext cx="14847" cy="1484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3452" y="974634"/>
            <a:ext cx="41835" cy="4183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06720" y="4556888"/>
            <a:ext cx="18806" cy="1880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827" y="1610333"/>
            <a:ext cx="38834" cy="388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6793" y="4212451"/>
            <a:ext cx="14430" cy="144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626" y="3176172"/>
            <a:ext cx="11272" cy="112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787" y="2546179"/>
            <a:ext cx="43938" cy="439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3616" y="4073895"/>
            <a:ext cx="36986" cy="369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004" y="3449911"/>
            <a:ext cx="10469" cy="104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3529" y="4498137"/>
            <a:ext cx="19988" cy="199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37427" y="1017722"/>
            <a:ext cx="14059" cy="1405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3494" y="1464898"/>
            <a:ext cx="33412" cy="334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2864" y="3458650"/>
            <a:ext cx="42932" cy="429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63737" y="552724"/>
            <a:ext cx="35133" cy="351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4637" y="4325385"/>
            <a:ext cx="27033" cy="270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8281" y="1148525"/>
            <a:ext cx="36071" cy="3607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35079" y="2401765"/>
            <a:ext cx="36619" cy="366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CÁC LOẠI ĐỘNG CƠ TÊN LỬA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28600" y="1005840"/>
            <a:ext cx="420624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1005840"/>
            <a:ext cx="54864" cy="1874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05840" y="1078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Học Lỏng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0584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Isp: 300–450 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606040" y="1508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đẩy: Rất cao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8328" y="18105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nhiên liệu lỏng (LOX/LH2, LOX/RP-1). Phù hợp cất cánh, lên quỹ đạo. Ví dụ: Merlin, RS-25.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3035808"/>
            <a:ext cx="420624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035808"/>
            <a:ext cx="54864" cy="18745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44" name="Text 42"/>
          <p:cNvSpPr/>
          <p:nvPr/>
        </p:nvSpPr>
        <p:spPr>
          <a:xfrm>
            <a:off x="338328" y="30358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🧱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00584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Học Rắn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05840" y="3538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Isp: 200–280 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0604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đẩy: Rất cao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38328" y="38404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giản, lưu trữ tốt. Dùng làm booster (SRB của Space Shuttle, SLS). Không điều chỉnh được.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1005840"/>
            <a:ext cx="420624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1005840"/>
            <a:ext cx="54864" cy="1874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18888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5486400" y="1078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/ Điện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486400" y="1508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Isp: 3,000–10,000 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86600" y="1508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đẩy: Rất thấp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18888" y="18105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suất cao nhưng lực đẩy nhỏ. Dùng cho tàu thăm dò xa (Dawn, Hayabusa). Dùng năng lượng điện.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09160" y="3035808"/>
            <a:ext cx="4206240" cy="1874520"/>
          </a:xfrm>
          <a:prstGeom prst="rect">
            <a:avLst/>
          </a:prstGeom>
          <a:solidFill>
            <a:srgbClr val="0F2044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3035808"/>
            <a:ext cx="54864" cy="1874520"/>
          </a:xfrm>
          <a:prstGeom prst="rect">
            <a:avLst/>
          </a:prstGeom>
          <a:solidFill>
            <a:srgbClr val="AA44FF"/>
          </a:solidFill>
          <a:ln/>
        </p:spPr>
      </p:sp>
      <p:sp>
        <p:nvSpPr>
          <p:cNvPr id="58" name="Text 56"/>
          <p:cNvSpPr/>
          <p:nvPr/>
        </p:nvSpPr>
        <p:spPr>
          <a:xfrm>
            <a:off x="4818888" y="30358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☢️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48640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Hạt Nhân Nhiệt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486400" y="3538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Isp: 800–1,000 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08660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đẩy: Trung bình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818888" y="38404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Lò phản ứng hạt nhân nung khí hydro. Lý tưởng cho hành trình Sao Hỏa. Đang nghiên cứu (NERVA, DRACO).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97883" y="1411175"/>
            <a:ext cx="26645" cy="266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75586" y="342094"/>
            <a:ext cx="10185" cy="101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95916" y="1776189"/>
            <a:ext cx="17742" cy="177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4929" y="4072016"/>
            <a:ext cx="24419" cy="244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4710" y="2408691"/>
            <a:ext cx="29811" cy="2981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07859" y="514919"/>
            <a:ext cx="33332" cy="33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79535" y="1950485"/>
            <a:ext cx="35520" cy="35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6753" y="165116"/>
            <a:ext cx="22770" cy="227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937" y="1271719"/>
            <a:ext cx="33903" cy="339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22142" y="3423431"/>
            <a:ext cx="25210" cy="252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55700" y="4253423"/>
            <a:ext cx="44597" cy="445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9635" y="5026266"/>
            <a:ext cx="20951" cy="209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029" y="225167"/>
            <a:ext cx="41692" cy="4169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6885" y="372576"/>
            <a:ext cx="28853" cy="288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1287" y="4258387"/>
            <a:ext cx="21312" cy="21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409" y="666764"/>
            <a:ext cx="28848" cy="2884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55408" y="1972312"/>
            <a:ext cx="23281" cy="232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4798" y="978102"/>
            <a:ext cx="10375" cy="103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66961" y="2388881"/>
            <a:ext cx="20754" cy="207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1538" y="2575384"/>
            <a:ext cx="33651" cy="3365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1705" y="1773738"/>
            <a:ext cx="10053" cy="100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501" y="3464262"/>
            <a:ext cx="38139" cy="381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3624" y="108195"/>
            <a:ext cx="21164" cy="2116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7386" y="3146527"/>
            <a:ext cx="35622" cy="35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6283" y="2155549"/>
            <a:ext cx="37722" cy="377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9594" y="398302"/>
            <a:ext cx="40868" cy="408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93088" y="3874203"/>
            <a:ext cx="25071" cy="2507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0398" y="4442840"/>
            <a:ext cx="24040" cy="24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3336" y="2156096"/>
            <a:ext cx="26116" cy="2611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54698" y="1118020"/>
            <a:ext cx="28550" cy="285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58464" y="2156487"/>
            <a:ext cx="45071" cy="4507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2465" y="1952555"/>
            <a:ext cx="28664" cy="2866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28282" y="2742497"/>
            <a:ext cx="34911" cy="349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7979" y="3517463"/>
            <a:ext cx="41250" cy="41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17232" y="2845838"/>
            <a:ext cx="21051" cy="21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553" y="237387"/>
            <a:ext cx="19837" cy="198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5054" y="991385"/>
            <a:ext cx="35728" cy="3572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12867" y="2395818"/>
            <a:ext cx="39902" cy="3990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76702" y="1173405"/>
            <a:ext cx="12876" cy="128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0928" y="3334657"/>
            <a:ext cx="29701" cy="297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54038" y="5005530"/>
            <a:ext cx="42493" cy="424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2698" y="4733123"/>
            <a:ext cx="22782" cy="2278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82939" y="4052285"/>
            <a:ext cx="44369" cy="443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736" y="3652102"/>
            <a:ext cx="38710" cy="387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6182" y="3891463"/>
            <a:ext cx="34647" cy="3464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4941" y="5027510"/>
            <a:ext cx="29072" cy="290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82241" y="2970622"/>
            <a:ext cx="44817" cy="4481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42198" y="203856"/>
            <a:ext cx="43760" cy="43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15574" y="1470577"/>
            <a:ext cx="43949" cy="439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8170" y="632305"/>
            <a:ext cx="24213" cy="242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THOÁT KHỎI TRÁI ĐẤT — VẬN TỐC VŨ TRỤ &amp; QUỸ ĐẠO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28600" y="1051560"/>
            <a:ext cx="269748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051560"/>
            <a:ext cx="2697480" cy="502920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Vận Tốc Vũ Trụ 1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228600" y="16276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km/s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338328" y="2331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Quỹ đạo thấp (LEO). Tốc độ tối thiểu để không rơi trở về. Đây là quỹ đạo của Trạm ISS.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136392" y="1051560"/>
            <a:ext cx="269748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36392" y="1051560"/>
            <a:ext cx="2697480" cy="502920"/>
          </a:xfrm>
          <a:prstGeom prst="rect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3136392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🌕 Vận Tốc Vũ Trụ 2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3136392" y="16276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km/s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3246120" y="2331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Thoát khỏi Trái Đất hoàn toàn. Cần thiết để bay đến Mặt Trăng hoặc ra ngoài hệ Mặt Trời.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044184" y="1051560"/>
            <a:ext cx="2697480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44184" y="1051560"/>
            <a:ext cx="2697480" cy="502920"/>
          </a:xfrm>
          <a:prstGeom prst="rect">
            <a:avLst/>
          </a:prstGeom>
          <a:solidFill>
            <a:srgbClr val="FFD700">
              <a:alpha val="4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044184" y="1051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Vận Tốc Vũ Trụ 3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044184" y="16276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 km/s</a:t>
            </a:r>
            <a:endParaRPr lang="en-US" sz="2800" dirty="0"/>
          </a:p>
        </p:txBody>
      </p:sp>
      <p:sp>
        <p:nvSpPr>
          <p:cNvPr id="69" name="Text 67"/>
          <p:cNvSpPr/>
          <p:nvPr/>
        </p:nvSpPr>
        <p:spPr>
          <a:xfrm>
            <a:off x="6153912" y="2331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Thoát khỏi hệ Mặt Trời. Voyager 1 đã đạt tốc độ này nhờ trợ lực hấp dẫn (gravity assist).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28600" y="3931920"/>
            <a:ext cx="8686800" cy="1005840"/>
          </a:xfrm>
          <a:prstGeom prst="rect">
            <a:avLst/>
          </a:prstGeom>
          <a:solidFill>
            <a:srgbClr val="061525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" y="3931920"/>
            <a:ext cx="54864" cy="1005840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3977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Chuyển Quỹ Đạo Hohmann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57200" y="43159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tiết kiệm nhiên liệu nhất để chuyển từ quỹ đạo này sang quỹ đạo khác. Thực hiện 2 lần đốt động cơ: lần 1 tạo quỹ đạo chuyển tiếp hình elip, lần 2 để đi vào quỹ đạo đích. Dùng cho LEO → GEO và Trái Đất → Mặt Trăng.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4287" y="1388870"/>
            <a:ext cx="28971" cy="2897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2891" y="999068"/>
            <a:ext cx="33973" cy="339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8385" y="955908"/>
            <a:ext cx="30647" cy="3064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51886" y="4667728"/>
            <a:ext cx="36157" cy="3615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80717" y="348410"/>
            <a:ext cx="19564" cy="1956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5208" y="2997741"/>
            <a:ext cx="44497" cy="444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57892" y="2884961"/>
            <a:ext cx="26205" cy="262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320" y="3465843"/>
            <a:ext cx="33705" cy="337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6378" y="1226997"/>
            <a:ext cx="37764" cy="377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21140" y="3228284"/>
            <a:ext cx="12068" cy="1206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45850" y="894326"/>
            <a:ext cx="45051" cy="450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7443" y="2382825"/>
            <a:ext cx="44264" cy="442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23348" y="3713614"/>
            <a:ext cx="28773" cy="2877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8932" y="3914413"/>
            <a:ext cx="14340" cy="14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4875" y="587649"/>
            <a:ext cx="40342" cy="403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8046" y="4466352"/>
            <a:ext cx="32764" cy="3276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6441" y="2440057"/>
            <a:ext cx="43955" cy="4395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2000" y="2391655"/>
            <a:ext cx="30864" cy="30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82402" y="4182210"/>
            <a:ext cx="39964" cy="399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51402" y="1997430"/>
            <a:ext cx="33193" cy="331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1445" y="2819992"/>
            <a:ext cx="29748" cy="297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8917" y="4770894"/>
            <a:ext cx="13289" cy="1328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9323" y="4245020"/>
            <a:ext cx="12071" cy="1207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704" y="2222761"/>
            <a:ext cx="12844" cy="1284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2177" y="912574"/>
            <a:ext cx="25726" cy="257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2393" y="4673263"/>
            <a:ext cx="23677" cy="23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06079" y="2604372"/>
            <a:ext cx="35309" cy="3530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312" y="4440547"/>
            <a:ext cx="33110" cy="33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8883" y="272347"/>
            <a:ext cx="17384" cy="17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07339" y="3506762"/>
            <a:ext cx="22424" cy="224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87610" y="4292623"/>
            <a:ext cx="11931" cy="1193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260" y="1779801"/>
            <a:ext cx="41722" cy="417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39123" y="2464369"/>
            <a:ext cx="29333" cy="293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0981" y="1940018"/>
            <a:ext cx="18304" cy="18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05003" y="946874"/>
            <a:ext cx="14381" cy="1438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7376" y="1167830"/>
            <a:ext cx="28321" cy="283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74557" y="1583739"/>
            <a:ext cx="17115" cy="1711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59068" y="4763757"/>
            <a:ext cx="44567" cy="4456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5388" y="4104834"/>
            <a:ext cx="16718" cy="167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42340" y="2795505"/>
            <a:ext cx="41825" cy="4182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66780" y="1651117"/>
            <a:ext cx="19846" cy="1984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7034" y="3788949"/>
            <a:ext cx="43934" cy="439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82668" y="1014213"/>
            <a:ext cx="20469" cy="204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17516" y="1593312"/>
            <a:ext cx="20073" cy="200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74089" y="3852067"/>
            <a:ext cx="14953" cy="149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59822" y="2218897"/>
            <a:ext cx="31736" cy="31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05234" y="3536068"/>
            <a:ext cx="35412" cy="354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89659" y="4044664"/>
            <a:ext cx="45043" cy="45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838" y="1130786"/>
            <a:ext cx="9948" cy="99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75616" y="3749369"/>
            <a:ext cx="36252" cy="3625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18710" y="4174498"/>
            <a:ext cx="16198" cy="161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09386" y="500500"/>
            <a:ext cx="9289" cy="92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16785" y="1879716"/>
            <a:ext cx="19484" cy="194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40343" y="4651088"/>
            <a:ext cx="19921" cy="1992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8101" y="3815487"/>
            <a:ext cx="42779" cy="427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61112" y="3832131"/>
            <a:ext cx="39005" cy="390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24049" y="2635143"/>
            <a:ext cx="37009" cy="370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49950" y="1438580"/>
            <a:ext cx="34924" cy="3492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26432" y="2553205"/>
            <a:ext cx="23606" cy="236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1190" y="3878632"/>
            <a:ext cx="27736" cy="27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HÀNH TRÌNH LÊN MẶT TRĂNG — CHƯƠNG TRÌNH APOLLO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228600" y="1005840"/>
            <a:ext cx="4206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128016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1440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Phóng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246120" y="1078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 V, lực đẩy 34,000 kN, cao 111m. 3 tầng đẩy riêng biệt.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228600" y="2331720"/>
            <a:ext cx="4206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" y="260604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3" name="Text 71"/>
          <p:cNvSpPr/>
          <p:nvPr/>
        </p:nvSpPr>
        <p:spPr>
          <a:xfrm>
            <a:off x="3200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91440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LEO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3246120" y="2404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 phút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27706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quỹ đạo thấp Trái Đất, kiểm tra hệ thống, chuẩn bị TLI.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040" y="393192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9" name="Text 77"/>
          <p:cNvSpPr/>
          <p:nvPr/>
        </p:nvSpPr>
        <p:spPr>
          <a:xfrm>
            <a:off x="3200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91440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TLI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3246120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giờ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Trans-Lunar Injection: đốt tầng S-IVB để thoát LEO về Mặt Trăng.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4709160" y="1005840"/>
            <a:ext cx="4206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800600" y="128016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85" name="Text 83"/>
          <p:cNvSpPr/>
          <p:nvPr/>
        </p:nvSpPr>
        <p:spPr>
          <a:xfrm>
            <a:off x="48006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539496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Hành Trình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7726680" y="1078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394960" y="144475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tự do 384,400 km. Hiệu chỉnh quỹ đạo nhỏ nếu cần.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4709160" y="2331720"/>
            <a:ext cx="4206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00600" y="260604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91" name="Text 89"/>
          <p:cNvSpPr/>
          <p:nvPr/>
        </p:nvSpPr>
        <p:spPr>
          <a:xfrm>
            <a:off x="4800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539496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🌕 LOI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7726680" y="2404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T+75 giờ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5394960" y="277063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Orbit Insertion: vào quỹ đạo Mặt Trăng. LM tách ra.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800600" y="3931920"/>
            <a:ext cx="502920" cy="5029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97" name="Text 95"/>
          <p:cNvSpPr/>
          <p:nvPr/>
        </p:nvSpPr>
        <p:spPr>
          <a:xfrm>
            <a:off x="48006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539496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🦅 Hạ Cánh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7726680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T+76 giờ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39496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hạ cánh, 2 phi hành gia thám hiểm, lấy mẫu đất đá.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22908" y="2721338"/>
            <a:ext cx="13825" cy="138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82215" y="140596"/>
            <a:ext cx="38436" cy="384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8541" y="2600818"/>
            <a:ext cx="27451" cy="2745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69267" y="3522707"/>
            <a:ext cx="29450" cy="29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99605" y="3906987"/>
            <a:ext cx="34587" cy="345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3106" y="1617221"/>
            <a:ext cx="38955" cy="389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5708" y="3031685"/>
            <a:ext cx="29545" cy="295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225" y="4450771"/>
            <a:ext cx="10663" cy="106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144" y="1183891"/>
            <a:ext cx="43859" cy="4385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7599" y="2514001"/>
            <a:ext cx="30292" cy="302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52604" y="4244750"/>
            <a:ext cx="16266" cy="162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3640" y="133341"/>
            <a:ext cx="15570" cy="15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7992" y="978042"/>
            <a:ext cx="36489" cy="364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98613" y="1511802"/>
            <a:ext cx="13351" cy="133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125" y="4346911"/>
            <a:ext cx="33224" cy="332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6205" y="1966541"/>
            <a:ext cx="13129" cy="131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863" y="1251818"/>
            <a:ext cx="16538" cy="165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047" y="3739999"/>
            <a:ext cx="39700" cy="397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8731" y="2437623"/>
            <a:ext cx="21867" cy="218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8494" y="3686930"/>
            <a:ext cx="21969" cy="219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4115" y="4315277"/>
            <a:ext cx="41363" cy="413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524" y="1232679"/>
            <a:ext cx="14513" cy="145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23352" y="4237579"/>
            <a:ext cx="44302" cy="443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55003" y="1266298"/>
            <a:ext cx="26729" cy="267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6617" y="3944019"/>
            <a:ext cx="21078" cy="210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50730" y="1270848"/>
            <a:ext cx="17626" cy="176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748" y="2379945"/>
            <a:ext cx="15534" cy="1553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12503" y="1645103"/>
            <a:ext cx="39867" cy="398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00088" y="994274"/>
            <a:ext cx="36630" cy="366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35390" y="3188821"/>
            <a:ext cx="12004" cy="1200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6080" y="4848169"/>
            <a:ext cx="25621" cy="256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13127" y="3498391"/>
            <a:ext cx="27675" cy="276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79533" y="4005238"/>
            <a:ext cx="26000" cy="26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39152" y="4294487"/>
            <a:ext cx="24676" cy="246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94756" y="3367681"/>
            <a:ext cx="9402" cy="940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39333" y="3266949"/>
            <a:ext cx="23340" cy="23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4266" y="3490180"/>
            <a:ext cx="33253" cy="332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6029" y="894317"/>
            <a:ext cx="44738" cy="447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927" y="3481185"/>
            <a:ext cx="26728" cy="26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8386" y="2369516"/>
            <a:ext cx="21572" cy="215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CC44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CÔNG NGHỆ HIỆN ĐẠI &amp; TƯƠNG LAI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CÁCH MẠNG TÁI SỬ DỤNG TÊN LỬA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4320" y="1463040"/>
            <a:ext cx="411480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6666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1463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Truyền Thống (Dùng 1 lần)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18928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 phí: $10,000–50,000/kg lên quỹ đạo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Saturn V: $1.4 tỷ/chuyến (tính lại theo USD 2023)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thu hồi được bất kỳ thứ gì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54880" y="1463040"/>
            <a:ext cx="411480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1463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SpaceX Falcon 9 (Tái sử dụng)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46320" y="18928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 phí: ~$2,700/kg lên LEO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Booster đã bay 20+ lần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Hạ cánh thẳng đứng, hoàn toàn tự động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" y="27889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🛸 DỰ ÁN TƯƠNG LAI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28600" y="3218688"/>
            <a:ext cx="4206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3218688"/>
            <a:ext cx="54864" cy="8046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338328" y="321868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886968" y="326440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Starship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86968" y="360273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lửa lớn nhất lịch sử. 100 tấn lên quỹ đạo. Sao Hỏa 2030s.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28600" y="4114800"/>
            <a:ext cx="4206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8600" y="4114800"/>
            <a:ext cx="54864" cy="8046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0" name="Text 58"/>
          <p:cNvSpPr/>
          <p:nvPr/>
        </p:nvSpPr>
        <p:spPr>
          <a:xfrm>
            <a:off x="338328" y="41148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🌕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886968" y="416052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/ SLS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86968" y="449884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đưa người trở lại Mặt Trăng. Cơ sở cho Gateway Station.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709160" y="3218688"/>
            <a:ext cx="4206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AA44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9160" y="3218688"/>
            <a:ext cx="54864" cy="804672"/>
          </a:xfrm>
          <a:prstGeom prst="rect">
            <a:avLst/>
          </a:prstGeom>
          <a:solidFill>
            <a:srgbClr val="AA44FF"/>
          </a:solidFill>
          <a:ln/>
        </p:spPr>
      </p:sp>
      <p:sp>
        <p:nvSpPr>
          <p:cNvPr id="65" name="Text 63"/>
          <p:cNvSpPr/>
          <p:nvPr/>
        </p:nvSpPr>
        <p:spPr>
          <a:xfrm>
            <a:off x="4818888" y="321868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☢️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367528" y="326440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Hạt Nhân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367528" y="360273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DRACO (NASA/DARPA): bay Sao Hỏa trong 45 ngày thay vì 9 tháng.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709160" y="4114800"/>
            <a:ext cx="4206240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09160" y="4114800"/>
            <a:ext cx="54864" cy="8046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0" name="Text 68"/>
          <p:cNvSpPr/>
          <p:nvPr/>
        </p:nvSpPr>
        <p:spPr>
          <a:xfrm>
            <a:off x="4818888" y="41148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5367528" y="416052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Ánh Sáng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367528" y="449884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Starshot: Tiếp cận Alpha Centauri bằng laser + buồm.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4583" y="3158059"/>
            <a:ext cx="21744" cy="21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7510" y="110157"/>
            <a:ext cx="42261" cy="4226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57305" y="4645690"/>
            <a:ext cx="28324" cy="2832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9799" y="4945719"/>
            <a:ext cx="34996" cy="349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6825" y="3903279"/>
            <a:ext cx="35268" cy="352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54322" y="5027964"/>
            <a:ext cx="30798" cy="3079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1500" y="4222717"/>
            <a:ext cx="39812" cy="398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7277" y="1239899"/>
            <a:ext cx="14348" cy="1434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0672" y="4903311"/>
            <a:ext cx="45308" cy="453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751" y="4821053"/>
            <a:ext cx="34427" cy="3442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31199" y="2595939"/>
            <a:ext cx="43398" cy="433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1292" y="2341991"/>
            <a:ext cx="42198" cy="421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6125" y="1205147"/>
            <a:ext cx="19243" cy="1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3825" y="3929118"/>
            <a:ext cx="17521" cy="1752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103" y="1085210"/>
            <a:ext cx="22644" cy="226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8115" y="2892469"/>
            <a:ext cx="28015" cy="280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79389" y="2232822"/>
            <a:ext cx="41734" cy="417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2867" y="2967699"/>
            <a:ext cx="39694" cy="396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961" y="4508979"/>
            <a:ext cx="14303" cy="143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0207" y="244541"/>
            <a:ext cx="43158" cy="4315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71900" y="1573564"/>
            <a:ext cx="43322" cy="433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40255" y="932885"/>
            <a:ext cx="28106" cy="281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748" y="2074547"/>
            <a:ext cx="10065" cy="100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6712" y="2323834"/>
            <a:ext cx="12840" cy="12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1905" y="1967906"/>
            <a:ext cx="22213" cy="222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911" y="2379612"/>
            <a:ext cx="40885" cy="408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89003" y="4639268"/>
            <a:ext cx="37438" cy="374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2643" y="4477309"/>
            <a:ext cx="9791" cy="97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3777" y="3339849"/>
            <a:ext cx="38588" cy="38588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74252" y="2830980"/>
            <a:ext cx="34346" cy="343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CÁC TÊN LỬA NỔI BẬT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28600" y="960120"/>
            <a:ext cx="1737360" cy="411480"/>
          </a:xfrm>
          <a:prstGeom prst="rect">
            <a:avLst/>
          </a:prstGeom>
          <a:solidFill>
            <a:srgbClr val="0A205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Lửa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65960" y="960120"/>
            <a:ext cx="1097280" cy="411480"/>
          </a:xfrm>
          <a:prstGeom prst="rect">
            <a:avLst/>
          </a:prstGeom>
          <a:solidFill>
            <a:srgbClr val="0A205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960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Quốc Gia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63240" y="960120"/>
            <a:ext cx="1280160" cy="411480"/>
          </a:xfrm>
          <a:prstGeom prst="rect">
            <a:avLst/>
          </a:prstGeom>
          <a:solidFill>
            <a:srgbClr val="0A205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960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LEO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43400" y="960120"/>
            <a:ext cx="1371600" cy="411480"/>
          </a:xfrm>
          <a:prstGeom prst="rect">
            <a:avLst/>
          </a:prstGeom>
          <a:solidFill>
            <a:srgbClr val="0A205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960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 Đẩy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15000" y="960120"/>
            <a:ext cx="3429000" cy="411480"/>
          </a:xfrm>
          <a:prstGeom prst="rect">
            <a:avLst/>
          </a:prstGeom>
          <a:solidFill>
            <a:srgbClr val="0A205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960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1371600"/>
            <a:ext cx="17373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13716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 V (1967)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965960" y="1371600"/>
            <a:ext cx="109728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137160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Mỹ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63240" y="1371600"/>
            <a:ext cx="12801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137160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130,000 kg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43400" y="1371600"/>
            <a:ext cx="13716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13716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34,000 kN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715000" y="1371600"/>
            <a:ext cx="34290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13716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Mạnh nhất lịch sử, đưa người lên Mặt Trăng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1883664"/>
            <a:ext cx="173736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188366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Shuttle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1965960" y="1883664"/>
            <a:ext cx="109728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0" y="188366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Mỹ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063240" y="1883664"/>
            <a:ext cx="128016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0" y="188366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kg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343400" y="1883664"/>
            <a:ext cx="137160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188366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kN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715000" y="1883664"/>
            <a:ext cx="342900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60720" y="188366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Tàu con thoi tái sử dụng, 135 sứ mệnh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2395728"/>
            <a:ext cx="17373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239572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(2010)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1965960" y="2395728"/>
            <a:ext cx="109728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0" y="239572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SpaceX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063240" y="2395728"/>
            <a:ext cx="12801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0" y="239572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22,800 kg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343400" y="2395728"/>
            <a:ext cx="13716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239572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7,600 kN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15000" y="2395728"/>
            <a:ext cx="34290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0720" y="23957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tái sử dụng, thương mại hóa vũ trụ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2907792"/>
            <a:ext cx="173736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290779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Heavy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1965960" y="2907792"/>
            <a:ext cx="109728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11680" y="290779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SpaceX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063240" y="2907792"/>
            <a:ext cx="128016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08960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63,800 kg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343400" y="2907792"/>
            <a:ext cx="137160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389120" y="290779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22,800 kN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715000" y="2907792"/>
            <a:ext cx="342900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60720" y="290779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booster Falcon 9, mạnh nhất đang hoạt động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28600" y="3419856"/>
            <a:ext cx="17373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341985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(2023)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1965960" y="3419856"/>
            <a:ext cx="109728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11680" y="3419856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SpaceX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063240" y="3419856"/>
            <a:ext cx="12801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0" y="341985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kg+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343400" y="3419856"/>
            <a:ext cx="13716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389120" y="341985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74,000 kN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715000" y="3419856"/>
            <a:ext cx="34290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760720" y="341985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toàn tái sử dụng, mục tiêu Sao Hỏa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228600" y="3931920"/>
            <a:ext cx="173736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39319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March 5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1965960" y="3931920"/>
            <a:ext cx="109728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11680" y="393192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TQ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3063240" y="3931920"/>
            <a:ext cx="128016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108960" y="393192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kg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343400" y="3931920"/>
            <a:ext cx="137160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0" y="39319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10,560 kN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715000" y="3931920"/>
            <a:ext cx="3429000" cy="512064"/>
          </a:xfrm>
          <a:prstGeom prst="rect">
            <a:avLst/>
          </a:prstGeom>
          <a:solidFill>
            <a:srgbClr val="0C1B3A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760720" y="393192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lực Trung Quốc, dự án Hằng Nga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228600" y="4443984"/>
            <a:ext cx="17373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4320" y="444398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Ariane 6</a:t>
            </a:r>
            <a:endParaRPr lang="en-US" sz="1150" dirty="0"/>
          </a:p>
        </p:txBody>
      </p:sp>
      <p:sp>
        <p:nvSpPr>
          <p:cNvPr id="107" name="Shape 105"/>
          <p:cNvSpPr/>
          <p:nvPr/>
        </p:nvSpPr>
        <p:spPr>
          <a:xfrm>
            <a:off x="1965960" y="4443984"/>
            <a:ext cx="109728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011680" y="444398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ESA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63240" y="4443984"/>
            <a:ext cx="128016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108960" y="444398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21,650 kg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4343400" y="4443984"/>
            <a:ext cx="13716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389120" y="444398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14,600 kN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5715000" y="4443984"/>
            <a:ext cx="3429000" cy="512064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760720" y="444398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Châu Âu, phóng vệ tinh thương mại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13203" y="4490527"/>
            <a:ext cx="43174" cy="431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3208" y="3918494"/>
            <a:ext cx="39500" cy="39500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3285" y="4567983"/>
            <a:ext cx="18207" cy="18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08052" y="536390"/>
            <a:ext cx="20789" cy="207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17491" y="3237648"/>
            <a:ext cx="36501" cy="36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17739" y="1108123"/>
            <a:ext cx="22279" cy="222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01708" y="2481150"/>
            <a:ext cx="30612" cy="306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624" y="3584494"/>
            <a:ext cx="43083" cy="4308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43123" y="388461"/>
            <a:ext cx="29004" cy="2900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24654" y="3839286"/>
            <a:ext cx="38480" cy="38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2502" y="1788631"/>
            <a:ext cx="28634" cy="2863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3828" y="1159831"/>
            <a:ext cx="12674" cy="126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1517" y="3212978"/>
            <a:ext cx="35509" cy="355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1734" y="796662"/>
            <a:ext cx="27032" cy="27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9203" y="4007204"/>
            <a:ext cx="10545" cy="105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164" y="3220579"/>
            <a:ext cx="36367" cy="363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5786" y="2269135"/>
            <a:ext cx="10983" cy="1098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73467" y="4091201"/>
            <a:ext cx="34886" cy="348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1824" y="2717094"/>
            <a:ext cx="19533" cy="1953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4417" y="3750128"/>
            <a:ext cx="32796" cy="327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1146" y="1498566"/>
            <a:ext cx="13450" cy="13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996" y="3924517"/>
            <a:ext cx="16518" cy="165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92882" y="1231198"/>
            <a:ext cx="9817" cy="981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2522" y="4452620"/>
            <a:ext cx="21884" cy="218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792" y="2210505"/>
            <a:ext cx="30071" cy="3007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28630" y="4885081"/>
            <a:ext cx="31945" cy="319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3875" y="2465348"/>
            <a:ext cx="33136" cy="3313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1285" y="4756874"/>
            <a:ext cx="35919" cy="3591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66059" y="4366401"/>
            <a:ext cx="41756" cy="417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5420" y="462214"/>
            <a:ext cx="31929" cy="319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87600" y="3237315"/>
            <a:ext cx="31684" cy="316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88330" y="4687572"/>
            <a:ext cx="40419" cy="404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6935" y="3453826"/>
            <a:ext cx="39408" cy="394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4493" y="1869971"/>
            <a:ext cx="17196" cy="171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19334" y="605959"/>
            <a:ext cx="13075" cy="130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9540" y="3037710"/>
            <a:ext cx="30902" cy="309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21834" y="1006554"/>
            <a:ext cx="22998" cy="229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78237" y="1752883"/>
            <a:ext cx="31863" cy="3186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17238" y="2566917"/>
            <a:ext cx="30901" cy="3090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0996" y="522383"/>
            <a:ext cx="30243" cy="30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4966" y="902320"/>
            <a:ext cx="9781" cy="97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55766" y="861276"/>
            <a:ext cx="40337" cy="403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9452" y="1843870"/>
            <a:ext cx="28054" cy="280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42443" y="285686"/>
            <a:ext cx="32366" cy="3236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1606" y="2728210"/>
            <a:ext cx="34285" cy="3428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32772" y="3430725"/>
            <a:ext cx="25125" cy="251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4423" y="1484641"/>
            <a:ext cx="43062" cy="430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08899" y="2477497"/>
            <a:ext cx="42870" cy="428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25165" y="4793448"/>
            <a:ext cx="43146" cy="431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9076" y="3677105"/>
            <a:ext cx="22997" cy="229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1948" y="2477017"/>
            <a:ext cx="20114" cy="2011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35274" y="4158209"/>
            <a:ext cx="44052" cy="44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259" y="870944"/>
            <a:ext cx="12991" cy="1299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09641" y="696407"/>
            <a:ext cx="18961" cy="1896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09326" y="1725431"/>
            <a:ext cx="33772" cy="337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01036" y="4685408"/>
            <a:ext cx="27262" cy="2726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74154" y="4501647"/>
            <a:ext cx="25924" cy="2592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7646" y="1917885"/>
            <a:ext cx="13469" cy="134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17808" y="4534714"/>
            <a:ext cx="22690" cy="22690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32025" y="2901228"/>
            <a:ext cx="21760" cy="21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SỐ BẠN CẦN NHỚ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228600" y="1051560"/>
            <a:ext cx="2743200" cy="1810512"/>
          </a:xfrm>
          <a:prstGeom prst="rect">
            <a:avLst/>
          </a:prstGeom>
          <a:solidFill>
            <a:srgbClr val="0F2044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600" y="1051560"/>
            <a:ext cx="2743200" cy="365760"/>
          </a:xfrm>
          <a:prstGeom prst="rect">
            <a:avLst/>
          </a:prstGeom>
          <a:solidFill>
            <a:srgbClr val="1E90FF">
              <a:alpha val="3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28600" y="1051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3152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 lên LEO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2286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9,400</a:t>
            </a:r>
            <a:endParaRPr lang="en-US" sz="3400" dirty="0"/>
          </a:p>
        </p:txBody>
      </p:sp>
      <p:sp>
        <p:nvSpPr>
          <p:cNvPr id="70" name="Text 68"/>
          <p:cNvSpPr/>
          <p:nvPr/>
        </p:nvSpPr>
        <p:spPr>
          <a:xfrm>
            <a:off x="22860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20040" y="2441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cần thiết để vào quỹ đạo thấp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136392" y="1051560"/>
            <a:ext cx="2743200" cy="1810512"/>
          </a:xfrm>
          <a:prstGeom prst="rect">
            <a:avLst/>
          </a:prstGeom>
          <a:solidFill>
            <a:srgbClr val="0F2044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136392" y="1051560"/>
            <a:ext cx="2743200" cy="365760"/>
          </a:xfrm>
          <a:prstGeom prst="rect">
            <a:avLst/>
          </a:prstGeom>
          <a:solidFill>
            <a:srgbClr val="FFD700">
              <a:alpha val="3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3136392" y="1051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🌕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639312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Mặt Trăng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136392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384,400</a:t>
            </a:r>
            <a:endParaRPr lang="en-US" sz="3400" dirty="0"/>
          </a:p>
        </p:txBody>
      </p:sp>
      <p:sp>
        <p:nvSpPr>
          <p:cNvPr id="77" name="Text 75"/>
          <p:cNvSpPr/>
          <p:nvPr/>
        </p:nvSpPr>
        <p:spPr>
          <a:xfrm>
            <a:off x="3136392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227832" y="2441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sáng mất 1.3 giây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044184" y="1051560"/>
            <a:ext cx="2743200" cy="1810512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44184" y="1051560"/>
            <a:ext cx="2743200" cy="365760"/>
          </a:xfrm>
          <a:prstGeom prst="rect">
            <a:avLst/>
          </a:prstGeom>
          <a:solidFill>
            <a:srgbClr val="00D4FF">
              <a:alpha val="35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6044184" y="1051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547104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đến Mặt Trăng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044184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</a:t>
            </a:r>
            <a:endParaRPr lang="en-US" sz="3400" dirty="0"/>
          </a:p>
        </p:txBody>
      </p:sp>
      <p:sp>
        <p:nvSpPr>
          <p:cNvPr id="84" name="Text 82"/>
          <p:cNvSpPr/>
          <p:nvPr/>
        </p:nvSpPr>
        <p:spPr>
          <a:xfrm>
            <a:off x="6044184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6135624" y="2441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Apollo, tốc độ ~1.5 km/s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28600" y="3017520"/>
            <a:ext cx="2743200" cy="1810512"/>
          </a:xfrm>
          <a:prstGeom prst="rect">
            <a:avLst/>
          </a:prstGeom>
          <a:solidFill>
            <a:srgbClr val="0F2044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8600" y="3017520"/>
            <a:ext cx="2743200" cy="365760"/>
          </a:xfrm>
          <a:prstGeom prst="rect">
            <a:avLst/>
          </a:prstGeom>
          <a:solidFill>
            <a:srgbClr val="00CC88">
              <a:alpha val="3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22860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Falcon 9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228600" y="3429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$2,700</a:t>
            </a:r>
            <a:endParaRPr lang="en-US" sz="3400" dirty="0"/>
          </a:p>
        </p:txBody>
      </p:sp>
      <p:sp>
        <p:nvSpPr>
          <p:cNvPr id="91" name="Text 89"/>
          <p:cNvSpPr/>
          <p:nvPr/>
        </p:nvSpPr>
        <p:spPr>
          <a:xfrm>
            <a:off x="228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/kg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320040" y="4407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10x so với thập kỷ trước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3136392" y="3017520"/>
            <a:ext cx="2743200" cy="1810512"/>
          </a:xfrm>
          <a:prstGeom prst="rect">
            <a:avLst/>
          </a:prstGeom>
          <a:solidFill>
            <a:srgbClr val="0F20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36392" y="3017520"/>
            <a:ext cx="2743200" cy="365760"/>
          </a:xfrm>
          <a:prstGeom prst="rect">
            <a:avLst/>
          </a:prstGeom>
          <a:solidFill>
            <a:srgbClr val="FF6B35">
              <a:alpha val="35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3136392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📏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363931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 V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3136392" y="3429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111m</a:t>
            </a:r>
            <a:endParaRPr lang="en-US" sz="3400" dirty="0"/>
          </a:p>
        </p:txBody>
      </p:sp>
      <p:sp>
        <p:nvSpPr>
          <p:cNvPr id="98" name="Text 96"/>
          <p:cNvSpPr/>
          <p:nvPr/>
        </p:nvSpPr>
        <p:spPr>
          <a:xfrm>
            <a:off x="3136392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3227832" y="4407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tòa nhà 36 tầng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6044184" y="3017520"/>
            <a:ext cx="2743200" cy="1810512"/>
          </a:xfrm>
          <a:prstGeom prst="rect">
            <a:avLst/>
          </a:prstGeom>
          <a:solidFill>
            <a:srgbClr val="0F2044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44184" y="3017520"/>
            <a:ext cx="2743200" cy="365760"/>
          </a:xfrm>
          <a:prstGeom prst="rect">
            <a:avLst/>
          </a:prstGeom>
          <a:solidFill>
            <a:srgbClr val="CC44FF">
              <a:alpha val="3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6044184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👨‍🚀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6547104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đi bộ Mặt Trăng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6044184" y="3429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4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05" name="Text 103"/>
          <p:cNvSpPr/>
          <p:nvPr/>
        </p:nvSpPr>
        <p:spPr>
          <a:xfrm>
            <a:off x="6044184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6135624" y="4407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11–17, 1969–1972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1824" y="885235"/>
            <a:ext cx="28029" cy="280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46158" y="3330974"/>
            <a:ext cx="14611" cy="146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12647" y="2921886"/>
            <a:ext cx="42704" cy="42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59010" y="4105610"/>
            <a:ext cx="11238" cy="1123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99887" y="795998"/>
            <a:ext cx="27264" cy="272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51742" y="1785953"/>
            <a:ext cx="29801" cy="298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0598" y="4144067"/>
            <a:ext cx="40399" cy="403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07125" y="4540144"/>
            <a:ext cx="35706" cy="357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0078" y="1645693"/>
            <a:ext cx="42179" cy="421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51845" y="4476343"/>
            <a:ext cx="26511" cy="2651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79" y="95117"/>
            <a:ext cx="42786" cy="4278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86053" y="2588026"/>
            <a:ext cx="26765" cy="2676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020" y="921458"/>
            <a:ext cx="21960" cy="21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256" y="4522720"/>
            <a:ext cx="20974" cy="209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1638" y="4276256"/>
            <a:ext cx="41850" cy="418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7184" y="4088717"/>
            <a:ext cx="12926" cy="129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7482" y="4725880"/>
            <a:ext cx="39919" cy="3991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708" y="2812536"/>
            <a:ext cx="44636" cy="446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8353" y="3407622"/>
            <a:ext cx="21506" cy="215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5113" y="3444126"/>
            <a:ext cx="35554" cy="355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2049" y="1718205"/>
            <a:ext cx="34654" cy="346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8502" y="1449283"/>
            <a:ext cx="34000" cy="34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44031" y="3227826"/>
            <a:ext cx="40530" cy="405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58333" y="1643645"/>
            <a:ext cx="30928" cy="30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1679" y="2453103"/>
            <a:ext cx="37929" cy="379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1991" y="3959499"/>
            <a:ext cx="40330" cy="403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86241" y="641133"/>
            <a:ext cx="28493" cy="284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7357" y="1342765"/>
            <a:ext cx="29954" cy="2995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4629" y="258437"/>
            <a:ext cx="13730" cy="1373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84318" y="876137"/>
            <a:ext cx="34422" cy="344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87121" y="299108"/>
            <a:ext cx="28912" cy="2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45456" y="3529421"/>
            <a:ext cx="37984" cy="379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590" y="3384284"/>
            <a:ext cx="43129" cy="43129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87453" y="3230291"/>
            <a:ext cx="38177" cy="381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5008" y="2843056"/>
            <a:ext cx="17432" cy="1743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30477" y="4044580"/>
            <a:ext cx="29469" cy="294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4992" y="3414682"/>
            <a:ext cx="14084" cy="14084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9940" y="1699561"/>
            <a:ext cx="39243" cy="392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28797" y="2189478"/>
            <a:ext cx="19957" cy="1995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1376" y="2686631"/>
            <a:ext cx="21336" cy="21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6322" y="4991674"/>
            <a:ext cx="19453" cy="194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63900" y="611845"/>
            <a:ext cx="21944" cy="219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400" y="780435"/>
            <a:ext cx="20872" cy="20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65531" y="1035172"/>
            <a:ext cx="31531" cy="3153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93508" y="567415"/>
            <a:ext cx="42545" cy="425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9585" y="4347857"/>
            <a:ext cx="35699" cy="356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82527" y="4908246"/>
            <a:ext cx="27864" cy="27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99862" y="1860817"/>
            <a:ext cx="29679" cy="2967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44340" y="1249774"/>
            <a:ext cx="45289" cy="452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57342" y="2356325"/>
            <a:ext cx="33940" cy="339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92932" y="3281115"/>
            <a:ext cx="33707" cy="337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66884" y="3233613"/>
            <a:ext cx="29451" cy="2945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6029" y="2960339"/>
            <a:ext cx="28489" cy="284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546" y="2935435"/>
            <a:ext cx="20656" cy="206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86971" y="1567072"/>
            <a:ext cx="30689" cy="306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38087" y="3499721"/>
            <a:ext cx="40736" cy="40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20058" y="133378"/>
            <a:ext cx="31721" cy="3172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42433" y="4740447"/>
            <a:ext cx="21195" cy="21195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90782" y="4104549"/>
            <a:ext cx="19800" cy="19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92005" y="2053659"/>
            <a:ext cx="39774" cy="3977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15384" y="667802"/>
            <a:ext cx="26231" cy="26231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4778" y="2204374"/>
            <a:ext cx="36024" cy="360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98332" y="3853480"/>
            <a:ext cx="34317" cy="343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46744" y="3436005"/>
            <a:ext cx="15713" cy="1571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33424" y="4421564"/>
            <a:ext cx="22088" cy="220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36815" y="2115461"/>
            <a:ext cx="12542" cy="1254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03210" y="305911"/>
            <a:ext cx="38894" cy="3889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88592" y="2180816"/>
            <a:ext cx="24046" cy="2404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87893" y="1354711"/>
            <a:ext cx="26322" cy="26322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38922" y="2948058"/>
            <a:ext cx="37996" cy="3799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0303" y="1488400"/>
            <a:ext cx="21581" cy="2158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2136" y="3896985"/>
            <a:ext cx="17463" cy="1746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12584" y="4337040"/>
            <a:ext cx="19786" cy="197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497471" y="3050076"/>
            <a:ext cx="16213" cy="16213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731655" y="1437871"/>
            <a:ext cx="33432" cy="33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50942" y="1688378"/>
            <a:ext cx="10990" cy="109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67952" y="1898883"/>
            <a:ext cx="26659" cy="2665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29376" y="1126419"/>
            <a:ext cx="11278" cy="1127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29831" y="3059551"/>
            <a:ext cx="13780" cy="137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08105" y="95160"/>
            <a:ext cx="22141" cy="2214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20649" y="1276445"/>
            <a:ext cx="36545" cy="365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03692" y="2762994"/>
            <a:ext cx="17706" cy="17706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33006" y="2982629"/>
            <a:ext cx="27602" cy="276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52074" y="3654057"/>
            <a:ext cx="40197" cy="4019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43513" y="681998"/>
            <a:ext cx="11093" cy="110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29923" y="2064582"/>
            <a:ext cx="36484" cy="364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68389" y="4614169"/>
            <a:ext cx="41960" cy="41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77200" y="3767681"/>
            <a:ext cx="31055" cy="310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59512" y="1178364"/>
            <a:ext cx="35603" cy="3560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94007" y="2043883"/>
            <a:ext cx="10793" cy="107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28557" y="968970"/>
            <a:ext cx="39145" cy="391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4578" y="4366804"/>
            <a:ext cx="31787" cy="317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80306" y="4478571"/>
            <a:ext cx="34005" cy="340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8819" y="1121605"/>
            <a:ext cx="11795" cy="117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80868" y="5005963"/>
            <a:ext cx="14249" cy="1424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964946" y="4574086"/>
            <a:ext cx="35118" cy="351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395081" y="721664"/>
            <a:ext cx="28137" cy="28137"/>
          </a:xfrm>
          <a:prstGeom prst="ellipse">
            <a:avLst/>
          </a:prstGeom>
          <a:solidFill>
            <a:srgbClr val="FFE8A0"/>
          </a:solidFill>
          <a:ln w="12700">
            <a:solidFill>
              <a:srgbClr val="FFE8A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83280" y="353635"/>
            <a:ext cx="26037" cy="2603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86654" y="2309077"/>
            <a:ext cx="29352" cy="29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85224" y="1216605"/>
            <a:ext cx="32818" cy="3281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-914400" y="-914400"/>
            <a:ext cx="6400800" cy="6400800"/>
          </a:xfrm>
          <a:prstGeom prst="ellipse">
            <a:avLst/>
          </a:prstGeom>
          <a:solidFill>
            <a:srgbClr val="0D2060">
              <a:alpha val="5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572000" y="1828800"/>
            <a:ext cx="5486400" cy="5486400"/>
          </a:xfrm>
          <a:prstGeom prst="ellipse">
            <a:avLst/>
          </a:prstGeom>
          <a:solidFill>
            <a:srgbClr val="300A40">
              <a:alpha val="40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CHÚNG TA KHÁM PHÁ VŨ TRỤ?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457200" y="822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Trụ Đang Gọi</a:t>
            </a:r>
            <a:endParaRPr lang="en-US" sz="4400" dirty="0"/>
          </a:p>
        </p:txBody>
      </p:sp>
      <p:sp>
        <p:nvSpPr>
          <p:cNvPr id="106" name="Text 104"/>
          <p:cNvSpPr/>
          <p:nvPr/>
        </p:nvSpPr>
        <p:spPr>
          <a:xfrm>
            <a:off x="457200" y="1645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Chúng Ta Sẽ Trả Lời</a:t>
            </a:r>
            <a:endParaRPr lang="en-US" sz="2600" dirty="0"/>
          </a:p>
        </p:txBody>
      </p:sp>
      <p:sp>
        <p:nvSpPr>
          <p:cNvPr id="107" name="Shape 105"/>
          <p:cNvSpPr/>
          <p:nvPr/>
        </p:nvSpPr>
        <p:spPr>
          <a:xfrm>
            <a:off x="457200" y="2377440"/>
            <a:ext cx="8229600" cy="27432"/>
          </a:xfrm>
          <a:prstGeom prst="rect">
            <a:avLst/>
          </a:prstGeom>
          <a:solidFill>
            <a:srgbClr val="1E90FF">
              <a:alpha val="60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45720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1389888" y="2715768"/>
            <a:ext cx="109728" cy="109728"/>
          </a:xfrm>
          <a:prstGeom prst="ellipse">
            <a:avLst/>
          </a:prstGeom>
          <a:solidFill>
            <a:srgbClr val="8899AA"/>
          </a:solidFill>
          <a:ln/>
        </p:spPr>
      </p:sp>
      <p:sp>
        <p:nvSpPr>
          <p:cNvPr id="110" name="Text 108"/>
          <p:cNvSpPr/>
          <p:nvPr/>
        </p:nvSpPr>
        <p:spPr>
          <a:xfrm>
            <a:off x="1600200" y="2542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Sputnik — Con người lần đầu vào vũ trụ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457200" y="3072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1389888" y="3246120"/>
            <a:ext cx="109728" cy="109728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13" name="Text 111"/>
          <p:cNvSpPr/>
          <p:nvPr/>
        </p:nvSpPr>
        <p:spPr>
          <a:xfrm>
            <a:off x="1600200" y="307238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11 — Bước chân đầu tiên trên Mặt Trăng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457200" y="36027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1389888" y="3776472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6" name="Text 114"/>
          <p:cNvSpPr/>
          <p:nvPr/>
        </p:nvSpPr>
        <p:spPr>
          <a:xfrm>
            <a:off x="1600200" y="36027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SN15 — Tái sử dụng hoàn toàn thành công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457200" y="4133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203X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1389888" y="43068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9" name="Text 117"/>
          <p:cNvSpPr/>
          <p:nvPr/>
        </p:nvSpPr>
        <p:spPr>
          <a:xfrm>
            <a:off x="1600200" y="41330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 đặt chân lên Sao Hỏa — ?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Earth is the cradle of humanity, but mankind cannot stay in the cradle forever."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Konstantin Tsiolkovsky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Tên Lửa &amp; Tương Lai Du Hành Vũ Trụ</dc:title>
  <dc:subject>PptxGenJS Presentation</dc:subject>
  <dc:creator>PptxGenJS</dc:creator>
  <cp:lastModifiedBy>PptxGenJS</cp:lastModifiedBy>
  <cp:revision>1</cp:revision>
  <dcterms:created xsi:type="dcterms:W3CDTF">2026-04-09T18:01:54Z</dcterms:created>
  <dcterms:modified xsi:type="dcterms:W3CDTF">2026-04-09T18:01:54Z</dcterms:modified>
</cp:coreProperties>
</file>