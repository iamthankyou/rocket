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Lần phóng/năm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CAD2E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2000</c:v>
                  </c:pt>
                  <c:pt idx="1">
                    <c:v>2010</c:v>
                  </c:pt>
                  <c:pt idx="2">
                    <c:v>2015</c:v>
                  </c:pt>
                  <c:pt idx="3">
                    <c:v>2020</c:v>
                  </c:pt>
                  <c:pt idx="4">
                    <c:v>2023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80</c:v>
                </c:pt>
                <c:pt idx="2">
                  <c:v>110</c:v>
                </c:pt>
                <c:pt idx="3">
                  <c:v>140</c:v>
                </c:pt>
                <c:pt idx="4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CAD2E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8D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8D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03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Khối lượng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7B6"/>
              </a:solidFill>
              <a:effectLst/>
            </c:spPr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bubble3D val="0"/>
            <c:spPr>
              <a:solidFill>
                <a:srgbClr val="FF6B35"/>
              </a:solidFill>
              <a:effectLst/>
            </c:spPr>
          </c:dPt>
          <c:dPt>
            <c:idx val="3"/>
            <c:bubble3D val="0"/>
            <c:spPr>
              <a:solidFill>
                <a:srgbClr val="06D6A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NL tầng 1 (72%)</c:v>
                </c:pt>
                <c:pt idx="1">
                  <c:v>NL tầng 2 (21%)</c:v>
                </c:pt>
                <c:pt idx="2">
                  <c:v>Cấu trúc (4%)</c:v>
                </c:pt>
                <c:pt idx="3">
                  <c:v>Tải trọng (3%)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72</c:v>
                </c:pt>
                <c:pt idx="1">
                  <c:v>21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CAD2E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11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77B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2743200"/>
            <a:ext cx="2743200" cy="27432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CÔNG NGHỆ TÊN LỬA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Trình Chinh Phục Vũ Trụ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18288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Thuốc Súng Đến Sao Hỏa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E0EF"/>
                </a:solidFill>
              </a:rPr>
              <a:t>"Trái Đất là cái nôi của nhân loại, nhưng không ai có thể sống mãi trong cái nôi."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</a:rPr>
              <a:t>— Konstantin Tsiolkovsky, 1895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Tại Sao Khám Phá Vũ Trụ?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2004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Trụ cột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Ý nghĩa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Ví dụ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Khoa học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Hiểu nguồn gốc vũ trụ, sự sống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James Webb, Perseverance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nghệ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Spin-off y tế, vật liệu, CNTT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GPS, MRI, máy lọc nước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Kinh tế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Ngành vũ trụ toàn cầu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500+ tỷ USD/năm (2023)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Tương lai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Bảo đảm tồn tại loài người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Thuộc địa Sao Hỏa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926080"/>
            <a:ext cx="1828800" cy="82296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2926080"/>
            <a:ext cx="54864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017520"/>
            <a:ext cx="1600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384.400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85800" y="3337560"/>
            <a:ext cx="16002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đến Mặt Trăng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60320" y="2926080"/>
            <a:ext cx="1828800" cy="82296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1" name="Shape 8"/>
          <p:cNvSpPr/>
          <p:nvPr/>
        </p:nvSpPr>
        <p:spPr>
          <a:xfrm>
            <a:off x="2560320" y="2926080"/>
            <a:ext cx="54864" cy="8229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2697480" y="3017520"/>
            <a:ext cx="1600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4,24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2697480" y="3337560"/>
            <a:ext cx="16002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ánh sáng đến sao gần nhất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0" y="2926080"/>
            <a:ext cx="1828800" cy="82296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0" y="2926080"/>
            <a:ext cx="54864" cy="8229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6" name="Text 13"/>
          <p:cNvSpPr/>
          <p:nvPr/>
        </p:nvSpPr>
        <p:spPr>
          <a:xfrm>
            <a:off x="4709160" y="3017520"/>
            <a:ext cx="1600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1.000+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4709160" y="3337560"/>
            <a:ext cx="16002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phát triển tên lửa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583680" y="2926080"/>
            <a:ext cx="2011680" cy="82296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9" name="Shape 16"/>
          <p:cNvSpPr/>
          <p:nvPr/>
        </p:nvSpPr>
        <p:spPr>
          <a:xfrm>
            <a:off x="6583680" y="2926080"/>
            <a:ext cx="54864" cy="8229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0" name="Text 17"/>
          <p:cNvSpPr/>
          <p:nvPr/>
        </p:nvSpPr>
        <p:spPr>
          <a:xfrm>
            <a:off x="6720840" y="3017520"/>
            <a:ext cx="17830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270+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720840" y="3337560"/>
            <a:ext cx="17830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hành gia sống trên ISS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Việt Nam: VinSpace, MicroDragon, chương trình đào tạo vũ trụ đang hình thành.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Nguồn Gốc Tên Lửa — 1.000 Năm Phát Triển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9728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31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TK 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lửa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Quốc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194560" y="109728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731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1232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20240" y="13716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Trận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Kai-Feng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57600" y="109728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731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1903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83280" y="13716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Tsiolkovsky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trình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120640" y="109728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731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0" y="13716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Goddard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lỏng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583680" y="109728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731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1942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09360" y="13716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V-2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thành công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863840" y="109728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731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1957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589520" y="13716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Sputnik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 quỹ đạo</a:t>
            </a:r>
            <a:endParaRPr lang="en-US" sz="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1031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Tsiolkovsky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Oberth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Goddard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Quốc tịch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Nga (1857–1935)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Đức (1894–1989)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Mỹ (1882–1945)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Đóng góp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Phương trình tên lửa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Sáng lập Hội VfR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 lỏng đầu tiên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sản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Nền tảng lý thuyết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Dìu dắt von Braun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 bằng sáng chế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548640" y="3520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 nghiệm Goddard (16/3/1926): Bay cao 12,5m trong 2,5 giây — tên lửa nhiên liệu lỏng đầu tiên.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E0EF"/>
                </a:solidFill>
              </a:rPr>
              <a:t>"Tên lửa hoạt động hoàn hảo trong chân không — thực ra còn tốt hơn trong khí quyển."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</a:rPr>
              <a:t>— Robert Goddard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Cuộc Đua Không Gian (1957–1972)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3657600" cy="164592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868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V-2 (1942)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14m cao, 13.000 kg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Lực đẩy: 68,6 kN | Isp: ~210s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Tầm bắn: 320 km | Trần bay: 88 km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 đẻ: Wernher von Braun (24 tuổi)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822960"/>
          <a:ext cx="4206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146304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Mốc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Liên Xô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Vệ tinh đầu tiên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Sputnik 1 (4/10/1957)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Explorer 1 (31/1/1958)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vào vũ trụ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Gagarin (12/4/1961)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Glenn (20/2/1962)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lên Mặt Trăng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Armstrong (20/7/1969)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2743200"/>
            <a:ext cx="8046720" cy="164592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788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Saturn V — Tên Lửa Vĩ Đại Nhất Lịch Sử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" y="3200400"/>
            <a:ext cx="1737360" cy="64008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" y="3200400"/>
            <a:ext cx="54864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291840"/>
            <a:ext cx="1508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111m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22960" y="3520440"/>
            <a:ext cx="15087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chiều cao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606040" y="3200400"/>
            <a:ext cx="1737360" cy="64008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6" name="Shape 13"/>
          <p:cNvSpPr/>
          <p:nvPr/>
        </p:nvSpPr>
        <p:spPr>
          <a:xfrm>
            <a:off x="2606040" y="3200400"/>
            <a:ext cx="54864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4"/>
          <p:cNvSpPr/>
          <p:nvPr/>
        </p:nvSpPr>
        <p:spPr>
          <a:xfrm>
            <a:off x="2743200" y="3291840"/>
            <a:ext cx="1508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2.970T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2743200" y="3520440"/>
            <a:ext cx="15087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khi phóng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26280" y="3200400"/>
            <a:ext cx="1737360" cy="64008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20" name="Shape 17"/>
          <p:cNvSpPr/>
          <p:nvPr/>
        </p:nvSpPr>
        <p:spPr>
          <a:xfrm>
            <a:off x="4526280" y="3200400"/>
            <a:ext cx="54864" cy="6400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1" name="Text 18"/>
          <p:cNvSpPr/>
          <p:nvPr/>
        </p:nvSpPr>
        <p:spPr>
          <a:xfrm>
            <a:off x="4663440" y="3291840"/>
            <a:ext cx="1508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7.600kN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4663440" y="3520440"/>
            <a:ext cx="15087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lực đẩy tầng 1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446520" y="3200400"/>
            <a:ext cx="2011680" cy="64008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24" name="Shape 21"/>
          <p:cNvSpPr/>
          <p:nvPr/>
        </p:nvSpPr>
        <p:spPr>
          <a:xfrm>
            <a:off x="6446520" y="3200400"/>
            <a:ext cx="54864" cy="64008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5" name="Text 22"/>
          <p:cNvSpPr/>
          <p:nvPr/>
        </p:nvSpPr>
        <p:spPr>
          <a:xfrm>
            <a:off x="6583680" y="3291840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6583680" y="3520440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lên Mặt Trăng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85800" y="3977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(2024): 280 tỷ USD toàn chương trình | Thu thập 382 kg mẫu đất đá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SpaceX và Cuộc Cách Mạng Tái Sử Dụng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828800"/>
                <a:gridCol w="25603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kỳ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Tên lửa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phí/kg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Ghi chú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1960s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Saturn 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~170.000 USD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Apollo era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1981–2011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 Shuttle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~54.000 USD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 chuyến bay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Falcon 9 (ban đầu)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65.000 USD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SpaceX ra mắt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Falcon 9 (tái sử dụng)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 USD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Giảm 97,7%!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Mục tiêu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 USD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Mục tiêu 2030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29260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21/12/2015 — Falcon 9 lần đầu hạ cánh thành công</a:t>
            </a:r>
            <a:endParaRPr lang="en-US" sz="1000" dirty="0"/>
          </a:p>
          <a:p>
            <a:pPr marL="342900" indent="-342900">
              <a:buSzPct val="100000"/>
              <a:buChar char="▪"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30/3/2017 — Lần đầu tái sử dụng tầng một đã bay</a:t>
            </a:r>
            <a:endParaRPr lang="en-US" sz="1000" dirty="0"/>
          </a:p>
          <a:p>
            <a:pPr marL="342900" indent="-342900">
              <a:buSzPct val="100000"/>
              <a:buChar char="▪"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lần hạ cánh thành công tính đến nay</a:t>
            </a:r>
            <a:endParaRPr lang="en-US" sz="1000" dirty="0"/>
          </a:p>
          <a:p>
            <a:pPr marL="342900" indent="-342900">
              <a:buSzPct val="100000"/>
              <a:buChar char="▪"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lần phóng/năm (2023) — kỷ lục lịch sử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303520" y="2743200"/>
          <a:ext cx="32918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Nguyên Lý Phản Lực — Định Luật Newton Thứ 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3657600" cy="27432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 = (dm/dt) × vₑ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CAD2E0"/>
                </a:solidFill>
              </a:rPr>
              <a:t>F = Lực đẩy (Newton)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CAD2E0"/>
                </a:solidFill>
              </a:rPr>
              <a:t>dm/dt = Lưu lượng khí xả (kg/s)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CAD2E0"/>
                </a:solidFill>
              </a:rPr>
              <a:t>vₑ = Vận tốc khí xả (m/s)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3657600" cy="1097280"/>
          </a:xfrm>
          <a:prstGeom prst="rect">
            <a:avLst/>
          </a:prstGeom>
          <a:solidFill>
            <a:srgbClr val="2D152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7490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</a:rPr>
              <a:t>✕ Sai: </a:t>
            </a:r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</a:rPr>
              <a:t>Tên lửa cần không khí để đẩy vào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✓ Đúng: </a:t>
            </a:r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</a:rPr>
              <a:t>Tên lửa tự tạo lực đẩy bằng phun khối lượng — không cần môi trường bên ngoài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822960"/>
            <a:ext cx="4114800" cy="27432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868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Động cơ Merlin 1D (Falcon 9)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325880"/>
            <a:ext cx="1828800" cy="59436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1325880"/>
            <a:ext cx="54864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417320"/>
            <a:ext cx="16002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1623060"/>
            <a:ext cx="16002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kg/giây lưu lượng NL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29400" y="1325880"/>
            <a:ext cx="1828800" cy="59436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6" name="Shape 14"/>
          <p:cNvSpPr/>
          <p:nvPr/>
        </p:nvSpPr>
        <p:spPr>
          <a:xfrm>
            <a:off x="6629400" y="1325880"/>
            <a:ext cx="54864" cy="5943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417320"/>
            <a:ext cx="16002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3.250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66560" y="1623060"/>
            <a:ext cx="16002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m/s vận tốc khí xả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2057400"/>
            <a:ext cx="1828800" cy="59436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20" name="Shape 18"/>
          <p:cNvSpPr/>
          <p:nvPr/>
        </p:nvSpPr>
        <p:spPr>
          <a:xfrm>
            <a:off x="4617720" y="2057400"/>
            <a:ext cx="54864" cy="5943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148840"/>
            <a:ext cx="16002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934 kN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54880" y="2354580"/>
            <a:ext cx="16002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lực đẩy mỗi động cơ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29400" y="2057400"/>
            <a:ext cx="1828800" cy="59436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24" name="Shape 22"/>
          <p:cNvSpPr/>
          <p:nvPr/>
        </p:nvSpPr>
        <p:spPr>
          <a:xfrm>
            <a:off x="6629400" y="2057400"/>
            <a:ext cx="54864" cy="5943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2148840"/>
            <a:ext cx="16002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9×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766560" y="2354580"/>
            <a:ext cx="16002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 cơ = 8.400 kN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3840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Bóng bay bị thổi — khi buông tay, khí thoát ra phía sau đẩy bóng bay về phía trước.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Phương Trình Tsiolkovsky (1903)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4114800" cy="146304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Δv = vₑ × ln(m₀ / mf)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</a:rPr>
              <a:t>Δv = Biến thiên vận tốc | vₑ = Vận tốc khí xả</a:t>
            </a:r>
            <a:endParaRPr lang="en-US" sz="2600" dirty="0"/>
          </a:p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</a:rPr>
              <a:t>m₀ = Khối lượng ban đầu | mf = Khối lượng cuối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937760" y="822960"/>
            <a:ext cx="3657600" cy="146304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8" name="Text 6"/>
          <p:cNvSpPr/>
          <p:nvPr/>
        </p:nvSpPr>
        <p:spPr>
          <a:xfrm>
            <a:off x="5074920" y="9144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Tại sao 90% là nhiên liệu?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</a:rPr>
              <a:t>LEO cần Δv ≈ 9,4 km/s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</a:rPr>
              <a:t>Tỷ lệ = e^(9,4/3,5) ≈ 14,7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</a:rPr>
              <a:t>→ 1 kg tải trọng cần 14,7 kg NL+cấu trúc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256032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560320"/>
          <a:ext cx="3657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Phương án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Tỷ lệ cần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Khả thi?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tầng lên LEO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22,9:1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thể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tầng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2,85:1 + 5,15:1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Khả thi!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9377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tầng hết NL → tách ra → giảm khối lượng → tầng tiếp đạt vận tốc cao hơn.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Vận Tốc Thoát và Xung Lượng Riêng (Isp)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3931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46304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Thiên thể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Vận tốc thoát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sánh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Trái Đất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 km/s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40.320 km/h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Mặt Trăng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 km/s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Dễ hơn 4,7 lần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Sao Hỏa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 km/s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Dễ hơn 2,2 lần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Mộc Tinh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59,5 km/s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Khó hơn 5,3 lần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822960"/>
          <a:ext cx="3931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Nhiên liệu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 (s)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Ứng dụng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Rắn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240–270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SRB (SLS, Ariane)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LOX/RP-1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260–310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Falcon 9, Saturn 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LOX/Methane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280–380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Starship (Raptor)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LOX/LH₂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365–450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SLS, H-IIA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Động cơ 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1.500–3.500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Dawn, Hayabusa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017520"/>
            <a:ext cx="8046720" cy="18288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8" name="Text 4"/>
          <p:cNvSpPr/>
          <p:nvPr/>
        </p:nvSpPr>
        <p:spPr>
          <a:xfrm>
            <a:off x="68580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Thang Δv — Ngân Sách Năng Lượng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286000" y="3429000"/>
            <a:ext cx="1097280" cy="182880"/>
          </a:xfrm>
          <a:prstGeom prst="rect">
            <a:avLst/>
          </a:prstGeom>
          <a:solidFill>
            <a:srgbClr val="0077B6">
              <a:alpha val="70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34015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lịch vũ trụ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3474720" y="34015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km/s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2286000" y="3685032"/>
            <a:ext cx="3840480" cy="182880"/>
          </a:xfrm>
          <a:prstGeom prst="rect">
            <a:avLst/>
          </a:prstGeom>
          <a:solidFill>
            <a:srgbClr val="0077B6">
              <a:alpha val="75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685800" y="3657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(ISS)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217920" y="3657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 km/s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286000" y="3941064"/>
            <a:ext cx="4572000" cy="182880"/>
          </a:xfrm>
          <a:prstGeom prst="rect">
            <a:avLst/>
          </a:prstGeom>
          <a:solidFill>
            <a:srgbClr val="0077B6">
              <a:alpha val="8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685800" y="39136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(vệ tinh)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949440" y="39136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 km/s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2286000" y="4197096"/>
            <a:ext cx="4572000" cy="182880"/>
          </a:xfrm>
          <a:prstGeom prst="rect">
            <a:avLst/>
          </a:prstGeom>
          <a:solidFill>
            <a:srgbClr val="0077B6">
              <a:alpha val="85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685800" y="416966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Mặt Trăng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949440" y="41696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 km/s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2286000" y="4453128"/>
            <a:ext cx="5212080" cy="182880"/>
          </a:xfrm>
          <a:prstGeom prst="rect">
            <a:avLst/>
          </a:prstGeom>
          <a:solidFill>
            <a:srgbClr val="0077B6">
              <a:alpha val="90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685800" y="442569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 Hỏa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7589520" y="44256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 km/s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Cấu Tạo Bên Trong — Falcon 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320040" cy="457200"/>
          </a:xfrm>
          <a:prstGeom prst="rect">
            <a:avLst/>
          </a:prstGeom>
          <a:solidFill>
            <a:srgbClr val="7B8DA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868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VÒM BẢO VỆ (Fairing)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2743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carbon, Ø5,2m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399032"/>
            <a:ext cx="320040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399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TẦNG HAI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16184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Merlin Vacuum, Isp=348s, 107.500 kg NL (21%)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2020824"/>
            <a:ext cx="320040" cy="274320"/>
          </a:xfrm>
          <a:prstGeom prst="rect">
            <a:avLst/>
          </a:prstGeom>
          <a:solidFill>
            <a:srgbClr val="7B8DA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02082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KHỚP NỐI (Interstage)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2130552"/>
            <a:ext cx="2743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lông nổ tách tầng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2368296"/>
            <a:ext cx="320040" cy="10972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36829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TẦNG MỘT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280720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Merlin 1D, 395.700 kg NL (72%), tái sử dụng 10–15 lần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3538728"/>
            <a:ext cx="320040" cy="411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538728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ĐỘNG CƠ + CHÂN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3703320"/>
            <a:ext cx="27432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đỡ thép, chân hạ cánh xếp, cánh lưới titan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822960"/>
          <a:ext cx="4206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phần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Khối lượng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Tỷ lệ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 tầng 1 (LOX+RP-1)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~395.700 kg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 tầng 2 (LOX+RP-1)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~115.600 kg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Cấu trúc + động cơ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~22.200 kg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Tải trọng (LEO)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~22.800 kg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389120" y="2834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khối lượng tên lửa là nhiên liệu. Chỉ 4% là tải trọng.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389120" y="320040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Bình chứa: Nhôm 2219-T87, dày 3–6mm (mỏng hơn đồng xu)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Cánh lưới: Titan, chịu 1.200°C khi tái nhập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Mối hàn: Hàn khuấy ma sát (FSW) — bền hơn 30%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Nhiên Liệu Tên Lửa và Động Cơ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2743200"/>
                <a:gridCol w="30175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Ưu điểm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Ứng dụng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Rắn (APCP)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Đơn giản, lực đẩy lớn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SRB SLS, Ariane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LOX/RP-1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chứng, rẻ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Falcon 9, Atlas 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LOX/LH₂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 cao nhất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SLS, H-IIA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LOX/Methane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360–380s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SX được trên Sao Hỏa!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Starship Raptor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371600"/>
                <a:gridCol w="30175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Động cơ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Tên lửa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Lực đẩy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Saturn V tầng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1.522 kN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Merlin 1D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Falcon 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934 kN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2.110 kN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453s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 kN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Vòi phun De Laval: </a:t>
            </a:r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</a:rPr>
              <a:t>Thu hẹp → Họng (Mach 1) → Mở rộng (Mach 3–5). Trong chân không, phần mở rộng tăng vận tốc lên trên tốc độ âm thanh.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Làm mát tái sinh: </a:t>
            </a:r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</a:rPr>
              <a:t>NL lạnh (-183°C) chảy quanh buồng đốt 3.600K trước khi vào đốt → giữ thành dưới 800°C.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Từ T-24h Đến T-0: Quy Trình Phóng Falcon 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8580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điểm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Sự kiện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T-24h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Nạp nhiên liệu (LOX + RP-1, tổng 2–3 giờ)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T-4h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tra điện tử cuối, niêm phong tải trọng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Trình tự tự động — máy tính tiếp quản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tra thủy lực, thử servo con quay hồi chuyển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T-45s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Khởi động động cơ: 250 bar trong 100ms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động cơ đủ công suất (13.700 kN), kẹp giữ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 lông nổ tung — CẤT CÁNH!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657600"/>
            <a:ext cx="2560320" cy="73152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657600"/>
            <a:ext cx="54864" cy="73152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74904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250 bar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85800" y="40233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100 mili giây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83280" y="3657600"/>
            <a:ext cx="2560320" cy="73152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1" name="Shape 8"/>
          <p:cNvSpPr/>
          <p:nvPr/>
        </p:nvSpPr>
        <p:spPr>
          <a:xfrm>
            <a:off x="3383280" y="3657600"/>
            <a:ext cx="54864" cy="7315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3520440" y="374904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3G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3520440" y="40233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tốc lúc phóng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17920" y="3657600"/>
            <a:ext cx="2377440" cy="73152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5" name="Shape 12"/>
          <p:cNvSpPr/>
          <p:nvPr/>
        </p:nvSpPr>
        <p:spPr>
          <a:xfrm>
            <a:off x="6217920" y="3657600"/>
            <a:ext cx="54864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3"/>
          <p:cNvSpPr/>
          <p:nvPr/>
        </p:nvSpPr>
        <p:spPr>
          <a:xfrm>
            <a:off x="6355080" y="3749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180 dB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355080" y="40233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đương sấm sét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Từ Mặt Đất Lên Quỹ Đạo — 9 Phút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phần Δv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trị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Ghi chú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Vận tốc quỹ đạo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 km/s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Tốc độ tối thiểu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Tăng độ cao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 km/s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Chống trọng lực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 thất trọng lực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 km/s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Liên tục chống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Lực cản khí quyển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 km/s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Nhỏ hơn tưởng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 cộng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~10,7 km/s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Trong ~9 phút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937760" y="822960"/>
            <a:ext cx="3657600" cy="32004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7" name="Text 4"/>
          <p:cNvSpPr/>
          <p:nvPr/>
        </p:nvSpPr>
        <p:spPr>
          <a:xfrm>
            <a:off x="5074920" y="868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Các Giai Đoạn Bay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7492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T+0–10s: Phóng thẳng đứng (0–2 km)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74920" y="1581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T+10s: Quay trọng lực, bắt đầu nghiêng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74920" y="19293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T+60–80s: Max-Q (15 km) — áp suất đỉnh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74920" y="22768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T+162s: Tắt động cơ tầng 1 (MECO, 65 km)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074920" y="2624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T+170s: Tách tầng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7492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T+171–530s: Tầng 2 đốt → 7.800 m/s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074920" y="3319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Quỹ đạo LEO (185 km)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sử dụng: Boostback → Entry burn → Cánh lưới titan → Hạ cánh (±1m, 2 m/s)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lửa bỏ: ~60 triệu USD | Tái sử dụng: ~30 triệu USD → Tiết kiệm 50%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Hành Trình 384.400 km — Trái Đất đến Mặt Trăng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Tham số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trị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Khoảng cách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384.400 km (30× đường kính Trái Đất)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Vận tốc thoát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 km/s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Δv đốt TLI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~3,2 km/s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 bay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 ngày (72–96 giờ)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 cánh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 phút từ 9 km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Độ trễ liên lạc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1,28s một chiều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822960"/>
          <a:ext cx="3931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73736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 hành gia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 trò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Đặc biệt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Neil Armstrong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huy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đầu tiên trên Mặt Trăng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 Aldrin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 công 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thứ hai, nhà địa chất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Michael Collins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 công CM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 quanh 30 vòng, không hạ cánh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2743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Dòng thời gian Apollo 11 (16–24/7/1969)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8640" y="3154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16/7 09:32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82880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Phóng từ Mũi Kennedy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48640" y="3474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16/7 14:22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82880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Đốt TLI — rời quỹ đạo Trái Đất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48640" y="3794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19/7 17:22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828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Đốt LOI — vào quỹ đạo Mặt Trăng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754880" y="3154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20/7 20:17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03504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Eagle has landed!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754880" y="3474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21/7 02:56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03504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đi đầu tiên của Armstrong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754880" y="3794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 16:50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03504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xuống Thái Bình Dương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thời gian: 8 ngày 3 giờ 18 phút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Apollo 11 — 12 Phút Căng Thẳng Nhất (20/7/1969)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4114800" cy="27432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km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914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 hạ cánh, v = 1.600 m/s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60120" y="1234440"/>
            <a:ext cx="18288" cy="1828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17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km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1417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Xoay → phi hành đoàn nhìn bề mặt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0120" y="1737360"/>
            <a:ext cx="18288" cy="1828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920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km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1920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Bãi đáp đầy đá! Chuyển thủ công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60120" y="2240280"/>
            <a:ext cx="18288" cy="1828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 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Hover, chọn điểm hạ cánh mới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0120" y="2743200"/>
            <a:ext cx="18288" cy="1828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Chạm đất 0,9 m/s. NL còn: 25 GIÂY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822960"/>
            <a:ext cx="3657600" cy="18288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868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Hoạt Động Trên Bề Mặt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123444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giờ 31 phút trên bề mặt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EVA: Armstrong 2h31m, Aldrin 1h10m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21,5 kg mẫu đá thu thập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Gương phản xạ laser (vẫn hoạt động!)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657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E0EF"/>
                </a:solidFill>
              </a:rPr>
              <a:t>"That's one small step for a man, one giant leap for mankind."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</a:rPr>
              <a:t>— Neil Armstrong, 21/7/1969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E0EF"/>
                </a:solidFill>
              </a:rPr>
              <a:t>"Magnificent desolation." </a:t>
            </a:r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</a:rPr>
              <a:t>— Buzz Aldrin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Cách Đến Mặt Trăng — Cơ Học Quỹ Đạo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2286000"/>
                <a:gridCol w="34747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Lần đốt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Mục đích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Nếu thất bại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3.258 m/s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Rời LEO → Mặt Trăng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Lạc vào không gian sâu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1.068 m/s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Phanh vào quỹ đạo MT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 qua Mặt Trăng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 cánh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~1.900 m/s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Quỹ đạo → bề mặt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Rơi thẳng đứng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1.006 m/s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Rời MT → Trái Đất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Mắc kẹt mãi mãi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834640"/>
            <a:ext cx="8046720" cy="164592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Sánh Chiều Cao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3246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Starship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194560" y="3264408"/>
            <a:ext cx="5029200" cy="1828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32461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85800" y="3520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Saturn V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194560" y="3538728"/>
            <a:ext cx="465201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6938010" y="3520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111m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8580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Ben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194560" y="3813048"/>
            <a:ext cx="4023360" cy="182880"/>
          </a:xfrm>
          <a:prstGeom prst="rect">
            <a:avLst/>
          </a:prstGeom>
          <a:solidFill>
            <a:srgbClr val="7B8DA6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37947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96m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85800" y="4069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Tượng NTDo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194560" y="4087368"/>
            <a:ext cx="3897630" cy="1828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9" name="Text 16"/>
          <p:cNvSpPr/>
          <p:nvPr/>
        </p:nvSpPr>
        <p:spPr>
          <a:xfrm>
            <a:off x="6183630" y="4069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93m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 lưới liên lạc Apollo: 3 trạm mặt đất, ăng-ten 64m, 2,4 kbps (&lt; 1/1000 tốc độ 3G).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Quỹ Đạo và Trạm Vũ Trụ Quốc Tế (ISS)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1371600"/>
                <a:gridCol w="39319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Quỹ đạo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Độ cao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 kỳ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Ứng dụng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200–2.000 km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phút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ISS, Hubble, Starlink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2.000–35.786 km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2–24 giờ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GPS, GLONASS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35.786 km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giờ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tiết, truyền hình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286000"/>
            <a:ext cx="4114800" cy="256032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 — Thông Số Kỹ Thuật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269748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cao: 408 km | Tốc độ: 7,66 km/s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15,5 vòng/ngày (quan sát bằng mắt thường!)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thước: 109m × 73m (= sân bóng đá)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420.000 kg | 15 mô-đun | 6–7 người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2.500 m² pin mặt trời, 120 kW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năm liên tục có người ở (từ 2000)</a:t>
            </a:r>
            <a:endParaRPr lang="en-US" sz="9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286000"/>
          <a:ext cx="3657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4688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Hệ cơ quan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Ảnh hưởng vi trọng lực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Xương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Mất 1%/tháng mật độ xương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Cơ bắp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 10%/tuần nếu không tập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Chất lỏng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Dồn 1,5–2L lên đầu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Thị giác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Áp lực dịch não tủy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93776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hành gia tập 2,5 giờ/ngày. Nước tiểu tái chế 93%.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 Năm Khám Phá Vũ Trụ — Các Sứ Mệnh Lớn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56692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Năm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Sứ mệnh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tích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Sputnik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Vệ tinh nhân tạo đầu tiên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Vostok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Gagarin — người đầu tiên vào vũ trụ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Apollo 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Armstrong — đi bộ trên Mặt Trăng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Apollo 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Trở về an toàn sau sự cố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Voyager 1&amp;2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 khỏi Hệ Mặt Trời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25+ năm có người liên tục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Perseverance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Ingenuity — bay trên Sao Hỏa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383280"/>
            <a:ext cx="4114800" cy="13716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Voyager 1 — Sứ Mệnh Vĩ Đại Nhất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37490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24,8 tỷ km — xa nhất lịch sử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km/s (HN→HCM trong 5 giây)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47+ năm hoạt động (thiết kế 5 năm)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Đĩa Vàng: hình ảnh Trái Đất, hạn 1,5 tỷ năm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937760" y="3383280"/>
            <a:ext cx="3657600" cy="13716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0" name="Text 7"/>
          <p:cNvSpPr/>
          <p:nvPr/>
        </p:nvSpPr>
        <p:spPr>
          <a:xfrm>
            <a:off x="5074920" y="3429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Ingenuity — Bay trên Sao Hỏa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74920" y="37490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 kg — thiết kế 5 chuyến bay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tế: 70+ chuyến bay!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Khí quyển 1% Trái Đất (= 35 km cao)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bay đầu tiên trên hành tinh khác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Artemis và Starship — Tương Lai Gần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4114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92024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Sứ mệnh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Mục tiêu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Artemis 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11/2022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Hoàn thành. SLS/Orion, 25,5 ngày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Artemis 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2025–2026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 quanh Mặt Trăng có người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Artemis III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2027–2028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Phụ nữ + da màu đầu tiên lên MT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Artemis IV+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Hiện diện lâu dài, Lunar Gateway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937760" y="822960"/>
            <a:ext cx="3657600" cy="18288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7" name="Text 4"/>
          <p:cNvSpPr/>
          <p:nvPr/>
        </p:nvSpPr>
        <p:spPr>
          <a:xfrm>
            <a:off x="5074920" y="868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Starship — Lớn Nhất Từng Chế Tạo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74920" y="1234440"/>
            <a:ext cx="1645920" cy="50292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9" name="Shape 6"/>
          <p:cNvSpPr/>
          <p:nvPr/>
        </p:nvSpPr>
        <p:spPr>
          <a:xfrm>
            <a:off x="5074920" y="1234440"/>
            <a:ext cx="54864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5212080" y="1325880"/>
            <a:ext cx="141732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120m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212080" y="1485900"/>
            <a:ext cx="141732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chiều cao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903720" y="1234440"/>
            <a:ext cx="1554480" cy="50292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3" name="Shape 10"/>
          <p:cNvSpPr/>
          <p:nvPr/>
        </p:nvSpPr>
        <p:spPr>
          <a:xfrm>
            <a:off x="6903720" y="123444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1"/>
          <p:cNvSpPr/>
          <p:nvPr/>
        </p:nvSpPr>
        <p:spPr>
          <a:xfrm>
            <a:off x="7040880" y="1325880"/>
            <a:ext cx="132588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74 MN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7040880" y="1485900"/>
            <a:ext cx="13258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lực đẩy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7492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33× Raptor | LOX/CH₄ | Tải trọng MT: 50 tấn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8640" y="2926080"/>
            <a:ext cx="8046720" cy="192024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Tầm Nhìn Sao Hỏa — SpaceX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" y="33375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2026–27: Hàng hóa không người lái thử nghiệm</a:t>
            </a:r>
            <a:endParaRPr lang="en-US" sz="1000" dirty="0"/>
          </a:p>
          <a:p>
            <a:pPr marL="342900" indent="-342900">
              <a:buSzPct val="100000"/>
              <a:buChar char="▪"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2028–29: Chuyến bay có người đầu tiên</a:t>
            </a:r>
            <a:endParaRPr lang="en-US" sz="1000" dirty="0"/>
          </a:p>
          <a:p>
            <a:pPr marL="342900" indent="-342900">
              <a:buSzPct val="100000"/>
              <a:buChar char="▪"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2030s: Căn cứ đầu tiên, tối đa 1.000 người/cửa sổ phóng</a:t>
            </a:r>
            <a:endParaRPr lang="en-US" sz="1000" dirty="0"/>
          </a:p>
          <a:p>
            <a:pPr marL="342900" indent="-342900">
              <a:buSzPct val="100000"/>
              <a:buChar char="▪"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ISRU: CO₂ + H₂O trên Sao Hỏa → CH₄ + O₂ = nhiên liệu về!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 Lịch Vũ Trụ và Công Nghệ Đẩy Mới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828800"/>
                <a:gridCol w="30175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vé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Độ cao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Virgin Galactic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Cận quỹ đạo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~450.000 USD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 km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Origin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Cận quỹ đạo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~300.000 USD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km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SpaceX Crew Dragon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Quỹ đạo + EVA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50–100M USD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408 km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Axiom Space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Quỹ đạo 1 tuần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~55M USD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 km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828800"/>
                <a:gridCol w="30175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nghệ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 Mars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Trạng thái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Hóa học (RP-1)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tháng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Trưởng thành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Nhiệt hạt nhân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800–900s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 tháng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Nghiên cứu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Điện hạt nhân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3.000–5.000s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tháng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Phòng lab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VASIMR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5.000+s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 tháng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Nguyên mẫu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hướng: 300.000 USD (2023) → ~10.000 USD trong 20 năm (khi Starship hoạt động).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Tương Lai Loài Người Trong Vũ Trụ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4114800" cy="210312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822960"/>
            <a:ext cx="54864" cy="210312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868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Thuộc Địa Sao Hỏa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2030–2050: 10–100 người, năng lượng hạt nhân, ISRU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2050–2100: 1.000+ người, thủy canh, in 3D nơi ở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2100+: 100.000+ người, terraforming, thành phố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Cửa sổ phóng: 2 năm một lần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37760" y="822960"/>
            <a:ext cx="3657600" cy="13716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0" y="822960"/>
            <a:ext cx="54864" cy="13716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868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Thang Máy Vũ Trụ (2100+)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12344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Cáp từ mặt đất → 35.786 km (GEO)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lý thuyết: ~$100/kg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Thách thức: vật liệu ống nano carbon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37760" y="2331720"/>
            <a:ext cx="3657600" cy="13716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2331720"/>
            <a:ext cx="54864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 Hành Liên Sao (2150+)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7432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 Centauri: 4,24 năm ánh sáng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Voyager: 73.000 năm để đến!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Starshot: 0,2c, 20 năm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E0EF"/>
                </a:solidFill>
              </a:rPr>
              <a:t>"Ngôi sao gần nhất cách chúng ta 4,24 năm ánh sáng. Voyager 1 cần 73.000 năm để đến đó."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</a:rPr>
              <a:t>— 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Tổng Kết — Năm Điều Quan Trọng Nhất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658368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822960"/>
            <a:ext cx="54864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868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8686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1.000+ Năm Phát Triển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17043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thuốc súng TQ → V-2 → Saturn V → Falcon 9 → Starship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600200"/>
            <a:ext cx="8046720" cy="658368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600200"/>
            <a:ext cx="54864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645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16459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Vật Lý Chính Xác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19476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 = vₑ × ln(m₀/mf) — NASA, SpaceX, ESA dùng mỗi ngày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377440"/>
            <a:ext cx="8046720" cy="658368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377440"/>
            <a:ext cx="54864" cy="65836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423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1600" y="24231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Đã Đến Mặt Trăng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272491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người trên Mặt Trăng. Voyager 24,8 tỷ km. Ingenuity bay trên Sao Hỏa.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8046720" cy="658368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154680"/>
            <a:ext cx="54864" cy="65836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200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71600" y="32004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 Lịch Vũ Trụ Bắt Đầu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35021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 Galactic, Blue Origin, SpaceX — giá đang giảm mỗi năm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931920"/>
            <a:ext cx="8046720" cy="658368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931920"/>
            <a:ext cx="54864" cy="65836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977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371600" y="39776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Sao Hỏa Trong 20–30 Năm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42793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Starship + ISRU + cửa sổ 2 năm = con đường khả thi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77B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Vươn Tới Các Vì Sao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E0EF"/>
                </a:solidFill>
              </a:rPr>
              <a:t>"Trái Đất là cái nôi của nhân loại, nhưng không ai có thể sống mãi trong cái nôi."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</a:rPr>
              <a:t>— Tsiolkovsky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4747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Lĩnh vực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Vị trí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Kỹ năng cần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Kỹ thuật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Kỹ sư tên lửa, hệ thống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Vật lý, cơ khí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Khoa học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Thiên văn, địa vật lý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Toán, vật lý, hóa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Phần mềm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 hàng không vũ trụ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Lập trình,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Kinh doanh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lý sứ mệnh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KD, CNTT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Việt Nam: MicroDragon (2019) | NanoDragon (2021) | VinSpace — tương lai đang mở.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Artemis I — Sứ Mệnh Lịch Sử (11/2022)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Thông số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trị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Ngày phóng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16/11/2022, 01:47 UTC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Tên lửa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SLS Block 1 (4× RS-25 + 2× SRB)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ngày 10 giờ 53 phút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 nhất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432.210 km (kỷ lục!)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Tốc độ tái nhập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40.000 km/h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Nhiệt độ khiên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2.760°C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937760" y="822960"/>
            <a:ext cx="3657600" cy="22860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7" name="Text 4"/>
          <p:cNvSpPr/>
          <p:nvPr/>
        </p:nvSpPr>
        <p:spPr>
          <a:xfrm>
            <a:off x="5074920" y="868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Thành Tựu Kỹ Thuật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74920" y="123444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Khiên nhiệt hoạt động hoàn hảo (2.760°C)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Dẫn đường chính xác ±1 km sau 800.000 km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hỗ trợ sự sống sẵn sàng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CubeSat BioSentinel đo bức xạ lên nấm men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đầu tiên tàu vũ trụ cho người bay sâu vào không gian liên hành tinh kể từ Apollo 17 (1972) — 50 năm vắng bóng.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Artemis II — Phi Hành Đoàn Tiên Phong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097280"/>
                <a:gridCol w="466344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 hành gia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Quốc tịch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 trò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Ý nghĩa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Reid Wiseman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huy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tháng ISS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Victor Glover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 công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da màu đầu tiên bay đến MT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Christina Koch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Chuyên gia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Phụ nữ đầu tiên bay đến MT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Jeremy Hansen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Chuyên gia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Canada đầu tiên ngoài LEO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743200"/>
            <a:ext cx="1828800" cy="73152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2743200"/>
            <a:ext cx="54864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8346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85800" y="31089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sứ mệnh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60320" y="2743200"/>
            <a:ext cx="2286000" cy="73152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1" name="Shape 8"/>
          <p:cNvSpPr/>
          <p:nvPr/>
        </p:nvSpPr>
        <p:spPr>
          <a:xfrm>
            <a:off x="2560320" y="2743200"/>
            <a:ext cx="54864" cy="7315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2697480" y="283464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8.900 km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2697480" y="31089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gần nhất Mặt Trăng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29200" y="2743200"/>
            <a:ext cx="2286000" cy="73152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5" name="Shape 12"/>
          <p:cNvSpPr/>
          <p:nvPr/>
        </p:nvSpPr>
        <p:spPr>
          <a:xfrm>
            <a:off x="5029200" y="2743200"/>
            <a:ext cx="54864" cy="7315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6" name="Text 13"/>
          <p:cNvSpPr/>
          <p:nvPr/>
        </p:nvSpPr>
        <p:spPr>
          <a:xfrm>
            <a:off x="5166360" y="283464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370.000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166360" y="31089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xa nhất Trái Đất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II không chỉ là kỹ thuật — đây là tuyên bố rằng vũ trụ thuộc về toàn nhân loại.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Artemis III — Cực Nam Mặt Trăng và Nước Đá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48463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Sứ mệnh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Năm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Phát hiện nước đá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Chandrayaan-1 (Ấn Độ)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Tín hiệu quang phổ nước đá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LCROSS (NASA)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Xác nhận 5,6% nước theo khối lượng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LRO (NASA)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2009–nay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Bản đồ vùng bóng tối vĩnh cửu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286000"/>
            <a:ext cx="4114800" cy="22860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Vùng Bóng Tối Vĩnh Cửu (PSR)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269748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không nghiêng trục → đáy miệng núi lửa cực không bao giờ có nắng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Nhiệt độ: -248°C đến -173°C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Nước đá tồn tại hàng tỷ năm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nguyên: nước uống, oxy thở, hydro nhiên liệu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937760" y="2286000"/>
            <a:ext cx="3657600" cy="22860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0" name="Text 7"/>
          <p:cNvSpPr/>
          <p:nvPr/>
        </p:nvSpPr>
        <p:spPr>
          <a:xfrm>
            <a:off x="507492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Mục Tiêu Khoa Học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74920" y="26974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 địa chất cổ đại (&gt;4 tỷ năm)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trữ lượng nước đá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bức xạ cho căn cứ dài hạn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nghiệm ISRU quy mô nhỏ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Lunar Gateway — Trạm Vũ Trụ Mặt Trăng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Thông số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trị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Quỹ đạo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NRHO: 3.000–70.000 km quanh MT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 kỳ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 ngày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 hành đoàn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người, 30–90 ngày/lần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Mô-đun đầu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PPE + HALO (2026–2027)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Đối tác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NASA, ESA, JAXA, CSA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822960"/>
          <a:ext cx="3657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4688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Mục đích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Giải thích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 point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chuyển xuống Mặt Trăng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 nhiên liệu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Từ nước đá MT sản xuất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Bệ phóng Mars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Điểm xuất phát Sao Hỏa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Phòng thí nghiệm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Nghiên cứu môi trường MT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108960"/>
            <a:ext cx="8046720" cy="164592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8" name="Shape 4"/>
          <p:cNvSpPr/>
          <p:nvPr/>
        </p:nvSpPr>
        <p:spPr>
          <a:xfrm>
            <a:off x="731520" y="3383280"/>
            <a:ext cx="1828800" cy="457200"/>
          </a:xfrm>
          <a:prstGeom prst="rect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3152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kW mặt trời + ion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697480" y="3383280"/>
            <a:ext cx="1828800" cy="457200"/>
          </a:xfrm>
          <a:prstGeom prst="rect">
            <a:avLst/>
          </a:prstGeom>
          <a:solidFill>
            <a:srgbClr val="0077B6">
              <a:alpha val="4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269748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HALO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69748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Nơi ở, hỗ trợ sống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663440" y="3383280"/>
            <a:ext cx="1828800" cy="457200"/>
          </a:xfrm>
          <a:prstGeom prst="rect">
            <a:avLst/>
          </a:prstGeom>
          <a:solidFill>
            <a:srgbClr val="06D6A0">
              <a:alpha val="4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66344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I-HAB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6344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(ESA/JAXA)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6629400" y="3383280"/>
            <a:ext cx="1828800" cy="457200"/>
          </a:xfrm>
          <a:prstGeom prst="rect">
            <a:avLst/>
          </a:prstGeom>
          <a:solidFill>
            <a:srgbClr val="FF6B35">
              <a:alpha val="40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662940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ESPRIT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62940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NL, truyền thông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Quỹ đạo NRHO: cần rất ít NL duy trì — lực hút TĐ và MT gần như cân bằng.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Starship HLS — Hạ Cánh Mặt Trăng Thế Hệ Mới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39319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Thông số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Apollo 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Starship HLS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Chiều cao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 (tòa nhà 15 tầng!)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Tải trọng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kg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 kg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 hành đoàn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người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4+ người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 bề mặt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ngày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Nhiều tuần → tháng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Tái sử dụng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Hoàn toàn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926080"/>
            <a:ext cx="8046720" cy="18288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Quy Trình Hoạt Động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3337560"/>
            <a:ext cx="182880" cy="1828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3375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51560" y="33192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 phóng lên quỹ đạo (không người)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520" y="3657600"/>
            <a:ext cx="182880" cy="1828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657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51560" y="36393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chuyến tiếp NL (tanker)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31520" y="3977640"/>
            <a:ext cx="182880" cy="1828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3977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51560" y="39593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đến Gateway → Phi hành đoàn lên HLS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1520" y="4297680"/>
            <a:ext cx="182880" cy="1828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4297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51560" y="42793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cánh Mặt Trăng → Sứ mệnh bề mặt → Về Orion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Tốc Độ Ánh Sáng — Rào Cản Tuyệt Đối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= 299.792.458 m/s</a:t>
            </a:r>
            <a:endParaRPr lang="en-US" sz="2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4114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Hành trình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 ánh sáng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 → TPHCM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0,004 mili giây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Vòng quanh Trái Đất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0,133 giây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TĐ → Mặt Trăng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1,28 giây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TĐ → Mặt Trời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phút 20 giây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TĐ → Proxima Centauri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4,24 năm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TĐ → Andromeda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 triệu năm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937760" y="1371600"/>
            <a:ext cx="3657600" cy="256032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8" name="Text 5"/>
          <p:cNvSpPr/>
          <p:nvPr/>
        </p:nvSpPr>
        <p:spPr>
          <a:xfrm>
            <a:off x="507492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Tại Sao Không Vượt Được?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6636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0,1c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17220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Khối lượng +0,5%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16636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0,5c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17220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Khối lượng +15%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16636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0,9c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7220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Khối lượng +129%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16636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0,99c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7220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Khối lượng +607%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16636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0,999c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17220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Khối lượng +2.234%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16636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17220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Khối lượng VÔ CỰC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Voyager (17 km/s) → Proxima: 73.000 năm. Ngay cả 20% c: 21 năm nhưng tàu chỉ vài gram.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Thang Đo Khoảng Cách Vũ Trụ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3891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Đơn vị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Bằng bao nhiêu km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Dùng cho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Hệ Mặt Trời gần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149.597.870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Trong hệ Mặt Trời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Năm ánh sáng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9.461.000.000.000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Liên sao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30.857.000.000.000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Thiên văn học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Megaparsec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3.260.000 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Giữa các thiên hà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743200"/>
            <a:ext cx="8046720" cy="201168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Từ Nhà Ra Vũ Trụ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Trái Đất → Mặt Trăng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10896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384.400 km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0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1,28s ánh sáng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5800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Trái Đất → Mặt Trời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108960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149,6 triệu km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0" y="3410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 phút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" y="3712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Voyager 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108960" y="3712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24,8 tỷ km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0" y="37124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giờ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85800" y="40142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 Centauri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108960" y="40142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40.000 tỷ km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486400" y="40142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4,24 năm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85800" y="4315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Vũ trụ quan sát được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108960" y="4315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 93 tỷ năm ánh sáng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486400" y="4315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Dải Ngân Hà: 100.000 ly rộng | 100–400 tỷ sao | Mặt Trời cách trung tâm 26.000 ly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Giãn Nở Thời Gian — Thuyết Tương Đối Einstein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= t₀ / √(1 - v²/c²)</a:t>
            </a:r>
            <a:endParaRPr lang="en-US" sz="2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4114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Tốc độ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năm trên tàu 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Trên Trái Đất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năm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 năm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năm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2,29 năm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năm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7,09 năm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0,9999c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năm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70,7 năm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937760" y="822960"/>
            <a:ext cx="3657600" cy="22860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8" name="Text 5"/>
          <p:cNvSpPr/>
          <p:nvPr/>
        </p:nvSpPr>
        <p:spPr>
          <a:xfrm>
            <a:off x="5074920" y="868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Nghịch Lý Song Sinh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74920" y="123444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2050: cả hai 20 tuổi</a:t>
            </a:r>
            <a:endParaRPr lang="en-US" sz="1000" dirty="0"/>
          </a:p>
          <a:p>
            <a:pPr marL="342900" indent="-342900">
              <a:buSzPct val="100000"/>
              <a:buChar char="▪"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bay 0,99c trong 20 năm TĐ</a:t>
            </a:r>
            <a:endParaRPr lang="en-US" sz="1000" dirty="0"/>
          </a:p>
          <a:p>
            <a:pPr marL="342900" indent="-342900">
              <a:buSzPct val="100000"/>
              <a:buChar char="▪"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2070: Anh 40 tuổi</a:t>
            </a:r>
            <a:endParaRPr lang="en-US" sz="1000" dirty="0"/>
          </a:p>
          <a:p>
            <a:pPr marL="342900" indent="-342900">
              <a:buSzPct val="100000"/>
              <a:buChar char="▪"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trở về: mới 21,4 tuổi!</a:t>
            </a:r>
            <a:endParaRPr lang="en-US" sz="1000" dirty="0"/>
          </a:p>
          <a:p>
            <a:pPr marL="342900" indent="-342900">
              <a:buSzPct val="100000"/>
              <a:buChar char="▪"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Chênh lệch: 18,6 năm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3291840"/>
            <a:ext cx="8046720" cy="13716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Đã Chứng Minh Thực Nghiệm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37033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hồ nguyên tử trên máy bay chạy chậm hơn đúng như dự đoán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cần hiệu chỉnh 38 μs/ngày — nếu không, sai hàng km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Muon tia vũ trụ sống lâu hơn 10× vì bay gần tốc độ ánh sáng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Nghịch Lý Fermi — "Mọi Người Đang Ở Đâu?"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 = R* × fp × ne × fl × fi × fc × 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trình Drake (1961) — Ước tính: 1 đến hàng triệu văn minh trong Dải Ngân Hà.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2179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 thuyết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Giải thích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Trái Đất đặc biệt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Điều kiện sự sống thông minh cực kỳ hiếm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Bộ lọc Vĩ đại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Sự kiện tuyệt chủng phổ quát phía trước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Họ đang ở xa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Khoảng cách quá lớn, tín hiệu chưa đến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Họ đang im lặng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Văn minh tiên tiến không phát sóng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 Hypothesis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 sát nhưng không liên lạc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566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 tìm kiếm tín hiệu từ 1960 | Tín hiệu 'Wow!' (1977) không bao giờ lặp lại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Listen: 100 triệu USD, 10 năm | JWST: phân tích khí quyển ngoại hành tinh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4389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E0EF"/>
                </a:solidFill>
              </a:rPr>
              <a:t>"Hai khả năng: hoặc chúng ta cô đơn, hoặc không. Cả hai đều đáng sợ."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</a:rPr>
              <a:t>— Arthur C. Clarke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Thách Thức Vật Lý Của Du Hành Liên Sao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4114800" cy="77724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822960"/>
            <a:ext cx="54864" cy="77724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868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Khoảng Cách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 (4,24 ly): Voyager cần 73.000 năm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4114800" cy="77724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37360"/>
            <a:ext cx="54864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Năng Lượng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tấn → 10% c = 125 triệu tấn TNT = 125 năm điện thế giới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4114800" cy="77724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651760"/>
            <a:ext cx="54864" cy="7772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 Người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Tuổi thọ, bức xạ, vi thiên thạch, cô lập, tài nguyên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822960"/>
          <a:ext cx="3931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118872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Phương pháp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Tốc độ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 Proxima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Trạng thái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Hóa học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0,006% 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73.000 năm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thể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nhân nhiệt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0,1–0,5% 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1.000–4.000 năm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Nghiên cứu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5–10% 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40–90 năm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Lý thuyết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Buồm laser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~21 năm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Đề xuất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Antimatter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90%+ 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năm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Viễn tưởng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Tàu Thế Hệ và Giấc Ngủ Đông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4114800" cy="27432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822960"/>
            <a:ext cx="54864" cy="2743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868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Tàu Thế Hệ (Generation Ship)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thế hệ sinh ra, sống, chết trên tàu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trụ quay (trọng lực giả 1G)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 500m–2km, dài 2–10 km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 dân cư, nông nghiệp, nhà máy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sinh thái khép kín tự duy trì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Thách thức: xã hội, di truyền, chính trị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37760" y="822960"/>
            <a:ext cx="3657600" cy="27432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0" y="822960"/>
            <a:ext cx="54864" cy="2743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868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Giấc Ngủ Đông Cryogenic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123444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tế bào đơn lẻ trong LN₂: OK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Hồi sinh động vật lớn: chưa được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Tinh thể nước phá vỡ tế bào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nghiên cứu 'Torpor' (~-1°C)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trao đổi chất 50–70%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Torpor cho Mars: đang nghiên cứu nghiêm túc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Ngủ đông hoàn toàn = viễn tưởng. Torpor cho Sao Hỏa = khoa học thực.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Breakthrough Starshot — Buồm Laser 20% 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828800" cy="73152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822960"/>
            <a:ext cx="54864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1440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11887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ánh sáng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822960"/>
            <a:ext cx="1828800" cy="73152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0" y="822960"/>
            <a:ext cx="54864" cy="7315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91440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 năm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97480" y="11887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 Alpha Centauri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2011680" cy="73152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822960"/>
            <a:ext cx="54864" cy="7315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91440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1–10g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09160" y="11887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khối lượng tàu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822960"/>
            <a:ext cx="1828800" cy="73152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8" name="Shape 16"/>
          <p:cNvSpPr/>
          <p:nvPr/>
        </p:nvSpPr>
        <p:spPr>
          <a:xfrm>
            <a:off x="6766560" y="822960"/>
            <a:ext cx="54864" cy="7315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91440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100M$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03720" y="11887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sách NC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1737360"/>
            <a:ext cx="4114800" cy="22860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Nguyên Lý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214884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Phóng StarChip (vài gram) lên quỹ đạo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 lưới laser 1 GW chiếu lên buồm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Buồm 3,5 m², dày vài nguyên tử (graphene)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tốc 0 → 60.000 km/s trong ~10 phút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+4,24 năm để tín hiệu ảnh về Trái Đất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1737360"/>
            <a:ext cx="3657600" cy="22860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Thách Thức Chưa Giải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214884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buồm ổn định ở 0,2c khi va đập bụi?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1 GW tập trung: chưa có công nghệ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 hiệu từ 4 ly: triệu triệu phần watt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Phóng hàng nghìn chip, 1 cái sống = thành công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kế hoạch thực tế, không viễn tưởng — vật lý đã chứng minh. Thách thức là kỹ thuật.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Orion — Tàu Vũ Trụ Chạy Bằng Bom Hạt Nhân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4114800" cy="22860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868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Ý Tưởng (1958–1963)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Thả bom hạt nhân nhỏ phía sau mỗi 1–10s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 lượng nổ đẩy tàu qua tấm push plate thép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Isp: 6.000–100.000s (10–200× hóa học!)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độ: 3–10% c cho phiên bản liên sao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 hủy 1963: Hiệp ước cấm thử hạt nhân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822960"/>
          <a:ext cx="3657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73152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Phiên bản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Khối lượng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Tải trọng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Tốc độ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Interplanetary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 tấn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tấn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 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Interstellar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400.000 tấn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1.200 tấn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3–10% 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937760" y="2011680"/>
            <a:ext cx="3657600" cy="109728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0" name="Text 7"/>
          <p:cNvSpPr/>
          <p:nvPr/>
        </p:nvSpPr>
        <p:spPr>
          <a:xfrm>
            <a:off x="507492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Phiên Bản Hiện Đại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74920" y="23774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Medusa: bom nhiệt hạch siêu nhỏ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 phóng xạ, hiệu quả hơn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Vật lý khả thi, chưa có ý chí chính trị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E0EF"/>
                </a:solidFill>
              </a:rPr>
              <a:t>"Project Orion là cách duy nhất mà con người 1960 có thể du hành liên sao. Chúng ta đã bỏ lỡ vì chính trị."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</a:rPr>
              <a:t>— Freeman Dyson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Warp Drive — Khoa Học Hay Viễn Tưởng?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3716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 Alcubierre (1994)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</a:rPr>
              <a:t>Không di chuyển trong không-thời gian, mà di chuyển VỚI không-thời gian.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</a:rPr>
              <a:t>Co phía trước + Giãn phía sau → tàu trong bong bóng phẳng, đạt siêu ánh sáng.</a:t>
            </a:r>
            <a:endParaRPr lang="en-US" sz="11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7607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Khía cạnh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Đánh giá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Toán học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Nhất quán với Tương Đối Tổng Quát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Vật lý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Cần vật chất tối (năng lượng âm)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 ban đầu (1994)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khối lượng Mộc Tinh → 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 cải thiện (2012)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~700 kg vật chất tối (Harold White, NASA)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Thực nghiệm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Chưa ai tạo NL âm ổn định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 drive không vi phạm vật lý đã biết — chỉ cần vật liệu/năng lượng chưa biết cách tạo ra.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Kỷ Nguyên NewSpace — Cách Mạng Tư Nhân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2286000"/>
                <a:gridCol w="29260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Nhà sáng lập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Sản phẩm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Điểm mạnh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Elon Musk (2002)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Falcon 9, Starship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phí thấp nhất, tái sử dụng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Origin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Jeff Bezos (2000)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Shepard, Glenn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Động cơ BE-4, du lịch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Rocket Lab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Peter Beck (2006)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Electron, Neutron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Vệ tinh nhỏ giá rẻ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 Ellis (2015)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Terran 1, 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3D 95% tên lửa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743200"/>
            <a:ext cx="8046720" cy="201168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2880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41732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thành lập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3383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1732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9 phóng lần đầu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3886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41732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 cập bến ISS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00600" y="2880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2015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3212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9 hạ cánh tái sử dụng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00600" y="3383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3212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Dragon đưa người lên ISS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00600" y="3886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53212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Starship đạt quỹ đạo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Việt Nam Trong Kỷ Nguyên Vũ Trụ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286000"/>
                <a:gridCol w="50292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Năm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Sự kiện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Ý nghĩa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VINASAT-1 lên GEO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Vệ tinh thương mại đầu tiên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MicroDragon (50 kg)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KS Việt Nam chế tạo tại Nhật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NanoDragon (3,8 kg)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Vệ tinh nano đầu tiên VN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LOTUSat-1 đặt hàng NEC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Radar giám sát thiên tai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VinSpace thành lập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ty vũ trụ tư nhân đầu tiên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926080"/>
            <a:ext cx="4114800" cy="18288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Chiến Lược Đến 2030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33375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chủ thiết kế, chế tạo vệ tinh quan sát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VNSC tại Hòa Lạc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 tạo 100+ kỹ sư vũ trụ/năm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hút đầu tư tư nhân NewSpace</a:t>
            </a:r>
            <a:endParaRPr lang="en-US" sz="900" dirty="0"/>
          </a:p>
        </p:txBody>
      </p:sp>
      <p:graphicFrame>
        <p:nvGraphicFramePr>
          <p:cNvPr id="7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926080"/>
          <a:ext cx="3657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Quốc gia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tựu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Ấn Độ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Chandrayaan-3 hạ cánh MT (2023), 75M USD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Nhật Bản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SLIM hạ cánh MT, Hayabusa2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Hàn Quốc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KSLV-II Nuri, Danuri quanh MT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Hope Probe quanh Sao Hỏa (2021)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học Ấn Độ: chi phí thấp + kỹ sư giỏi + quyết tâm = đến Mặt Trăng. VN có tiềm năng tương tự.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Kính James Webb — Cỗ Máy Thời Gian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39319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sánh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Hubble (1990)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JWST (2021)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Kính gương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 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 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 → Hồng ngoại gần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Hồng ngoại gần → xa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Vị trí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LEO (547 km)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(1,5 triệu km)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Nhiệt độ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Môi trường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-233°C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Độ nhạy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2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1.000× nhạy hơn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926080"/>
            <a:ext cx="4114800" cy="18288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Phát Hiện Chấn Động (2022–2025)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33375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Thiên hà 290 triệu năm sau Big Bang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Nước + dimethyl sulfide trên K2-18b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Cát thủy tinh trong mây ngoại hành tinh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Hố đen siêu lớn sớm hơn dự kiến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937760" y="2926080"/>
            <a:ext cx="3657600" cy="182880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0" name="Text 7"/>
          <p:cNvSpPr/>
          <p:nvPr/>
        </p:nvSpPr>
        <p:spPr>
          <a:xfrm>
            <a:off x="507492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Tìm Kiếm Sự Sống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74920" y="33375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— dấu hiệu quang hợp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CH₄ + O₂ — không tồn tại lâu nếu không có sự sống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H₂O — nền tảng sự sống</a:t>
            </a:r>
            <a:endParaRPr lang="en-US" sz="900" dirty="0"/>
          </a:p>
          <a:p>
            <a:pPr marL="342900" indent="-342900">
              <a:buSzPct val="100000"/>
              <a:buChar char="▪"/>
            </a:pPr>
            <a:r>
              <a:rPr lang="en-US" sz="9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JWST nhìn đến 300 triệu năm sau Big Bang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77B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Từ Lửa Đến Các Vì Sao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Trình Chưa Kết Thúc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7680960" cy="41148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7335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6733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 phí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16733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USD vào NASA → 7–14 USD giá trị kinh tế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7680960" cy="41148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7627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1762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Thời gian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0" y="21762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năm: Wright Brothers → đi bộ Mặt Trăng. 66 năm sau: chưa trở lại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651760"/>
            <a:ext cx="7680960" cy="41148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7919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26791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Công nghệ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26791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thoại bạn mạnh hơn máy tính Apollo 100 triệu lần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154680"/>
            <a:ext cx="7680960" cy="41148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1821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1821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Khoảng cách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77440" y="31821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đến Mặt Trăng, nhưng sao gần nhất: 73.000 năm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657600"/>
            <a:ext cx="7680960" cy="411480"/>
          </a:xfrm>
          <a:prstGeom prst="rect">
            <a:avLst/>
          </a:prstGeom>
          <a:solidFill>
            <a:srgbClr val="16203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68503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36850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Sự sống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77440" y="36850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1 hành tinh có sự sống phức tạp — hành tinh bạn đang đứng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2976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E0EF"/>
                </a:solidFill>
              </a:rPr>
              <a:t>"Chúng ta được tạo ra từ những mảnh vỡ của các ngôi sao đã chết. Vũ trụ đang tự khám phá chính mình thông qua chúng ta."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7B8DA6"/>
                </a:solidFill>
              </a:rPr>
              <a:t>— Carl Sagan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Công Nghệ Tên Lửa và Hành Trình Chinh Phục Vũ Trụ</dc:title>
  <dc:subject>PptxGenJS Presentation</dc:subject>
  <dc:creator>Space Presentation</dc:creator>
  <cp:lastModifiedBy>Space Presentation</cp:lastModifiedBy>
  <cp:revision>1</cp:revision>
  <dcterms:created xsi:type="dcterms:W3CDTF">2026-04-09T19:54:31Z</dcterms:created>
  <dcterms:modified xsi:type="dcterms:W3CDTF">2026-04-09T19:54:31Z</dcterms:modified>
</cp:coreProperties>
</file>